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345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5.png"/><Relationship Id="rId5" Type="http://schemas.openxmlformats.org/officeDocument/2006/relationships/image" Target="../media/image60.png"/><Relationship Id="rId10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51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3376" r="-3376"/>
          <a:stretch/>
        </p:blipFill>
        <p:spPr>
          <a:xfrm>
            <a:off x="4063594" y="0"/>
            <a:ext cx="813450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43700"/>
            <a:ext cx="12191695" cy="114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1185977"/>
            <a:ext cx="2190902" cy="228600"/>
          </a:xfrm>
          <a:prstGeom prst="roundRect">
            <a:avLst>
              <a:gd name="adj" fmla="val 66667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61695" y="3376879"/>
            <a:ext cx="914400" cy="57607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1695" y="4815230"/>
            <a:ext cx="48764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F172A">
                <a:alpha val="10000"/>
              </a:srgbClr>
            </a:solidFill>
            <a:prstDash val="solid"/>
          </a:ln>
          <a:effectLst>
            <a:outerShdw blurRad="2921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875995" y="1214323"/>
            <a:ext cx="2048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 INTELLIGENCE REPORT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101645" y="1214323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1662379"/>
            <a:ext cx="8961039" cy="1543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다이렉트자동차보험 종합 분석 리포트</a:t>
            </a:r>
            <a:endParaRPr lang="en-US" sz="45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3748126"/>
            <a:ext cx="3495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인식 구조 분석부터 시장 경쟁 환경,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4058107"/>
            <a:ext cx="40297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가능한 마케팅 인사이트 및 전략 로드맵 제안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00354" y="5043830"/>
            <a:ext cx="372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00354" y="5243170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12월 27일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314700" y="5043830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314700" y="5243170"/>
            <a:ext cx="1291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Insight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38893" r="-38893"/>
          <a:stretch/>
        </p:blipFill>
        <p:spPr>
          <a:xfrm>
            <a:off x="6096305" y="3429000"/>
            <a:ext cx="6096305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49047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09905" y="2100377"/>
            <a:ext cx="5181905" cy="5715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905" y="2100377"/>
            <a:ext cx="28346" cy="571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09905" y="271028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9905" y="331927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9905" y="3929177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09905" y="453908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9905" y="514807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9905" y="5757977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400800" y="149047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400800" y="2100377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400800" y="271028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400800" y="331927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400800" y="3929177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400800" y="453908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0" y="5148072"/>
            <a:ext cx="19202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1086307" y="1652321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표지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" y="229057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95451" y="2262226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86307" y="2872130"/>
            <a:ext cx="1757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86307" y="3481121"/>
            <a:ext cx="2634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인식 분석 - 3단계 인식 구조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086307" y="4091026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인식 분석 - 핵심 키워드 분석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86307" y="4700930"/>
            <a:ext cx="23289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인식 분석 - 채널별 반응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86307" y="5309921"/>
            <a:ext cx="32625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환경 분석 - 경쟁 구도 및 디지털 트렌드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86307" y="5919826"/>
            <a:ext cx="2052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마케팅 인사이트 #1-2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877202" y="1652321"/>
            <a:ext cx="2052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마케팅 인사이트 #3-4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877202" y="2262226"/>
            <a:ext cx="2110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1 - 콘텐츠 마케팅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877202" y="2872130"/>
            <a:ext cx="2472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2 - 모바일 퍼널 최적화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877202" y="3481121"/>
            <a:ext cx="2472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3 - 차별화된 비교 경험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877202" y="4091026"/>
            <a:ext cx="2996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4-5 - 광고 효율화 및 프로모션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877202" y="4700930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 및 권고사항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877202" y="5309921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슬라이드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80898" y="168158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780898" y="2900477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780898" y="351038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80898" y="411937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05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780898" y="4729277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780898" y="533918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780898" y="594817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08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572707" y="168158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09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572707" y="229057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6572707" y="2900477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572707" y="351038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6572707" y="411937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572707" y="4729277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6572707" y="5339182"/>
            <a:ext cx="338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>
                    <a:alpha val="6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457200" y="323698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666598" y="209398"/>
            <a:ext cx="2057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1800" dirty="0"/>
          </a:p>
        </p:txBody>
      </p:sp>
      <p:sp>
        <p:nvSpPr>
          <p:cNvPr id="56" name="Text 53"/>
          <p:cNvSpPr txBox="1"/>
          <p:nvPr/>
        </p:nvSpPr>
        <p:spPr>
          <a:xfrm>
            <a:off x="666598" y="562356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다이렉트자동차보험 종합 분석 리포트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11238890" y="381305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02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2667305"/>
            <a:ext cx="3610051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4944" y="29050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771754" y="2991002"/>
            <a:ext cx="152705" cy="1335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92194" y="2667305"/>
            <a:ext cx="3610051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30852" y="29050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4597603" y="2991002"/>
            <a:ext cx="171907" cy="1335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28102" y="2667305"/>
            <a:ext cx="3610051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8365846" y="29050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51799" y="2991002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65846" y="3362249"/>
            <a:ext cx="2110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블로그: 실용 정보 탐색 (할인/특약)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8365846" y="3629254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카페: 실제 경험 공유 (워킹맘/직장인)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365846" y="3895344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유튜브: 심층 가이드 및 비교법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724705"/>
            <a:ext cx="3610051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94944" y="49624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795528" y="5048402"/>
            <a:ext cx="105156" cy="13350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92194" y="4724705"/>
            <a:ext cx="3610051" cy="182880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4559198" y="49624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2563E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4635094" y="5048402"/>
            <a:ext cx="152705" cy="13350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128102" y="4724705"/>
            <a:ext cx="3610051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8365846" y="49624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8466430" y="5048402"/>
            <a:ext cx="105156" cy="1335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14654" y="2933395"/>
            <a:ext cx="1748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성숙 및 경쟁 심화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694944" y="3372307"/>
            <a:ext cx="3225089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키워드 경쟁 강도가 '높음'으로 일괄 집계되며, KB다이렉트 등 보험사 브랜드 검색량이 13,820건에 달하는 양강 경쟁 구도입니다.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4949647" y="2933395"/>
            <a:ext cx="1281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인식 구조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4530852" y="3372307"/>
            <a:ext cx="319582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이해 → 적극 비교 → 전환 장벽 비교 필요성은 인지하나 '복잡함'과 '설계 부담'이라는 마지막 허들이 존재합니다.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785555" y="2933395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채널별 역할 분화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114654" y="4990795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중심 트렌드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694944" y="5429707"/>
            <a:ext cx="321503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검색의 66% 이상이 모바일에서 발생하며 CTR 또한 PC를 상회합니다. 최근 3개월 내 콘텐츠 73%가 생성되어 수요가 급증하고 있습니다.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4977994" y="4990795"/>
            <a:ext cx="24432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승리 공식 (Winning Formula)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559198" y="5429707"/>
            <a:ext cx="319582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"비교 경험 단순화 + 모바일 퍼널 최적화" 브랜드 신뢰도와 투명한 비교 경험을 결합하여 '복잡함'을 해소하는 것이 핵심입니다.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8785555" y="4990795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적극적 투자 적기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8365846" y="5429707"/>
            <a:ext cx="318668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긍정 감성(67%)과 콘텐츠 증가세는 시장 선점을 위한 최적의 타이밍임을 시사합니다. 지금이 마케팅 투자의 적기입니다.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7200" y="1218895"/>
            <a:ext cx="3610051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 txBox="1"/>
          <p:nvPr/>
        </p:nvSpPr>
        <p:spPr>
          <a:xfrm>
            <a:off x="694944" y="1371600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핵심 키워드 검색량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694944" y="1495044"/>
            <a:ext cx="19056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30,060</a:t>
            </a:r>
            <a:endParaRPr lang="en-US" sz="36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694944" y="2152498"/>
            <a:ext cx="85954" cy="1143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19302" y="2133295"/>
            <a:ext cx="8961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성숙도 입증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3368650" y="16002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502152" y="1733702"/>
            <a:ext cx="190195" cy="190195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4292194" y="1218895"/>
            <a:ext cx="3610051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4530852" y="1371600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비교/견적 CTR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4530852" y="1495044"/>
            <a:ext cx="219090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35~59%</a:t>
            </a:r>
            <a:endParaRPr lang="en-US" sz="3600" dirty="0"/>
          </a:p>
        </p:txBody>
      </p:sp>
      <p:sp>
        <p:nvSpPr>
          <p:cNvPr id="46" name="Text 36"/>
          <p:cNvSpPr txBox="1"/>
          <p:nvPr/>
        </p:nvSpPr>
        <p:spPr>
          <a:xfrm>
            <a:off x="4530852" y="2124151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구매 전환 의도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7203643" y="16002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 l="-1923" r="-1923"/>
          <a:stretch/>
        </p:blipFill>
        <p:spPr>
          <a:xfrm>
            <a:off x="7370978" y="1733702"/>
            <a:ext cx="123444" cy="190195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8128102" y="1218895"/>
            <a:ext cx="3610051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9"/>
          <p:cNvSpPr txBox="1"/>
          <p:nvPr/>
        </p:nvSpPr>
        <p:spPr>
          <a:xfrm>
            <a:off x="8365846" y="1371600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긍정 감성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8365846" y="1495044"/>
            <a:ext cx="13533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67%</a:t>
            </a:r>
            <a:endParaRPr lang="en-US" sz="3600" dirty="0"/>
          </a:p>
        </p:txBody>
      </p:sp>
      <p:sp>
        <p:nvSpPr>
          <p:cNvPr id="52" name="Text 41"/>
          <p:cNvSpPr txBox="1"/>
          <p:nvPr/>
        </p:nvSpPr>
        <p:spPr>
          <a:xfrm>
            <a:off x="8365846" y="2124151"/>
            <a:ext cx="1305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부정 감성 0% (매우 양호)</a:t>
            </a:r>
            <a:endParaRPr lang="en-US" sz="90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173054" y="1733702"/>
            <a:ext cx="190195" cy="190195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3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4"/>
          <p:cNvSpPr/>
          <p:nvPr/>
        </p:nvSpPr>
        <p:spPr>
          <a:xfrm>
            <a:off x="457200" y="295351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5"/>
          <p:cNvSpPr txBox="1"/>
          <p:nvPr/>
        </p:nvSpPr>
        <p:spPr>
          <a:xfrm>
            <a:off x="666598" y="181051"/>
            <a:ext cx="2315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8" name="Text 46"/>
          <p:cNvSpPr txBox="1"/>
          <p:nvPr/>
        </p:nvSpPr>
        <p:spPr>
          <a:xfrm>
            <a:off x="666598" y="533095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다이렉트자동차보험 종합 분석 리포트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11238890" y="35204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03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1" name="Text 49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EFF6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4067251" cy="3429000"/>
          </a:xfrm>
          <a:prstGeom prst="rect">
            <a:avLst/>
          </a:prstGeom>
          <a:solidFill>
            <a:srgbClr val="EEF2FF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178394" y="2018995"/>
            <a:ext cx="3562502" cy="373349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492947" y="2333549"/>
            <a:ext cx="533095" cy="533095"/>
          </a:xfrm>
          <a:prstGeom prst="roundRect">
            <a:avLst>
              <a:gd name="adj" fmla="val 3675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8631022" y="2486254"/>
            <a:ext cx="256946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92947" y="5210251"/>
            <a:ext cx="571500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135770" y="5210251"/>
            <a:ext cx="571500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0863986" y="2229307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492947" y="3086100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신중한 선택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92947" y="3438144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장벽 존재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92947" y="4943246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감성 분석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933481" y="4953305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 67%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598103" y="5238598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복잡(5)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240012" y="5238598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고민(4)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018995"/>
            <a:ext cx="3562502" cy="373349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771754" y="233354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952805" y="2486254"/>
            <a:ext cx="171907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141878" y="2229307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sp>
        <p:nvSpPr>
          <p:cNvPr id="22" name="Text 18"/>
          <p:cNvSpPr txBox="1"/>
          <p:nvPr/>
        </p:nvSpPr>
        <p:spPr>
          <a:xfrm>
            <a:off x="771754" y="3086100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이해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771754" y="3438144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인지도 매우 높음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71754" y="3857854"/>
            <a:ext cx="2933395" cy="743407"/>
          </a:xfrm>
          <a:prstGeom prst="roundRect">
            <a:avLst>
              <a:gd name="adj" fmla="val 1261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933602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인식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933602" y="4248302"/>
            <a:ext cx="2367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"설계사 없이 직접 가입"= "보험료 절약"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71754" y="47530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검색량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3085186" y="4772254"/>
            <a:ext cx="7196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30,060건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71754" y="5048402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키워드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148840" y="5020056"/>
            <a:ext cx="847649" cy="247802"/>
          </a:xfrm>
          <a:prstGeom prst="roundRect">
            <a:avLst>
              <a:gd name="adj" fmla="val 3690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2253996" y="5057546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다이렉트(54)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066898" y="5020056"/>
            <a:ext cx="638251" cy="247802"/>
          </a:xfrm>
          <a:prstGeom prst="roundRect">
            <a:avLst>
              <a:gd name="adj" fmla="val 3690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3172054" y="505754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직접(10)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317797" y="2018995"/>
            <a:ext cx="3562502" cy="373349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4632350" y="2333549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85055" y="2486254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002475" y="2229307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sp>
        <p:nvSpPr>
          <p:cNvPr id="38" name="Text 33"/>
          <p:cNvSpPr txBox="1"/>
          <p:nvPr/>
        </p:nvSpPr>
        <p:spPr>
          <a:xfrm>
            <a:off x="4632350" y="3086100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적극적 비교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4632350" y="3438144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관여도 매우 높음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632350" y="3857854"/>
            <a:ext cx="2933395" cy="743407"/>
          </a:xfrm>
          <a:prstGeom prst="roundRect">
            <a:avLst>
              <a:gd name="adj" fmla="val 1261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 txBox="1"/>
          <p:nvPr/>
        </p:nvSpPr>
        <p:spPr>
          <a:xfrm>
            <a:off x="4794199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행동 패턴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4794199" y="4248302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실익 추구를 위한적극적인 가격/조건 비교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4632350" y="4753051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비교/견적 CTR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7079285" y="4772254"/>
            <a:ext cx="5861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35~59%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632350" y="5020056"/>
            <a:ext cx="638251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 txBox="1"/>
          <p:nvPr/>
        </p:nvSpPr>
        <p:spPr>
          <a:xfrm>
            <a:off x="4737506" y="5048402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비교(13)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5340096" y="5020056"/>
            <a:ext cx="571500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3"/>
          <p:cNvSpPr txBox="1"/>
          <p:nvPr/>
        </p:nvSpPr>
        <p:spPr>
          <a:xfrm>
            <a:off x="5445252" y="5048402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절약(9)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5982919" y="5020056"/>
            <a:ext cx="571500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5"/>
          <p:cNvSpPr txBox="1"/>
          <p:nvPr/>
        </p:nvSpPr>
        <p:spPr>
          <a:xfrm>
            <a:off x="6087161" y="5048402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할인(8)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492947" y="3857854"/>
            <a:ext cx="2933395" cy="933602"/>
          </a:xfrm>
          <a:prstGeom prst="roundRect">
            <a:avLst>
              <a:gd name="adj" fmla="val 799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7"/>
          <p:cNvSpPr txBox="1"/>
          <p:nvPr/>
        </p:nvSpPr>
        <p:spPr>
          <a:xfrm>
            <a:off x="8654796" y="4019702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Point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8654796" y="4248302"/>
            <a:ext cx="26535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설계에 대한 부담감과보장 누락 우려 ("복잡함")</a:t>
            </a:r>
            <a:endParaRPr lang="en-US" sz="1000" dirty="0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4089197" y="3781044"/>
            <a:ext cx="142646" cy="228600"/>
          </a:xfrm>
          <a:prstGeom prst="rect">
            <a:avLst/>
          </a:prstGeom>
        </p:spPr>
      </p:pic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7949794" y="3781044"/>
            <a:ext cx="142646" cy="228600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0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1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 txBox="1"/>
          <p:nvPr/>
        </p:nvSpPr>
        <p:spPr>
          <a:xfrm>
            <a:off x="666598" y="185623"/>
            <a:ext cx="33247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인식 분석: 3단계 인식 구조</a:t>
            </a:r>
            <a:endParaRPr lang="en-US" sz="1800" dirty="0"/>
          </a:p>
        </p:txBody>
      </p:sp>
      <p:sp>
        <p:nvSpPr>
          <p:cNvPr id="60" name="Text 53"/>
          <p:cNvSpPr txBox="1"/>
          <p:nvPr/>
        </p:nvSpPr>
        <p:spPr>
          <a:xfrm>
            <a:off x="666598" y="538582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CONSUMER PERCEPTION ANALYSIS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04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3" name="Text 56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209751"/>
            <a:ext cx="1705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빈도 키워드 맵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48" y="1295705"/>
            <a:ext cx="1776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검색량 30,060건 기반 분석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38605"/>
            <a:ext cx="3581705" cy="2381098"/>
          </a:xfrm>
          <a:prstGeom prst="roundRect">
            <a:avLst>
              <a:gd name="adj" fmla="val 2458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3305556" y="1833372"/>
            <a:ext cx="571500" cy="571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" y="1876349"/>
            <a:ext cx="557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Rank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2000707"/>
            <a:ext cx="19815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3343046"/>
            <a:ext cx="448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4ED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54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023921" y="3467405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언급 빈도 (최다)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94944" y="3705149"/>
            <a:ext cx="3105302" cy="75895"/>
          </a:xfrm>
          <a:prstGeom prst="roundRect">
            <a:avLst>
              <a:gd name="adj" fmla="val 120482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190695" y="1638605"/>
            <a:ext cx="1714500" cy="2381098"/>
          </a:xfrm>
          <a:prstGeom prst="roundRect">
            <a:avLst>
              <a:gd name="adj" fmla="val 4741"/>
            </a:avLst>
          </a:prstGeom>
          <a:solidFill>
            <a:srgbClr val="EEF2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390949" y="1828800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Rank 2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390949" y="2009851"/>
            <a:ext cx="6007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390949" y="3476549"/>
            <a:ext cx="381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338C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390949" y="3762756"/>
            <a:ext cx="1314907" cy="57607"/>
          </a:xfrm>
          <a:prstGeom prst="roundRect">
            <a:avLst>
              <a:gd name="adj" fmla="val 1587307"/>
            </a:avLst>
          </a:prstGeom>
          <a:solidFill>
            <a:srgbClr val="C7D2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390949" y="3762756"/>
            <a:ext cx="323698" cy="57607"/>
          </a:xfrm>
          <a:prstGeom prst="roundRect">
            <a:avLst>
              <a:gd name="adj" fmla="val 1587307"/>
            </a:avLst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057900" y="1638605"/>
            <a:ext cx="1714500" cy="1114654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219749" y="1809598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27671" y="239115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57900" y="2905049"/>
            <a:ext cx="1714500" cy="1114654"/>
          </a:xfrm>
          <a:prstGeom prst="roundRect">
            <a:avLst>
              <a:gd name="adj" fmla="val 11218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219749" y="3076956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절약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519111" y="3657600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172407"/>
            <a:ext cx="1714500" cy="1114654"/>
          </a:xfrm>
          <a:prstGeom prst="roundRect">
            <a:avLst>
              <a:gd name="adj" fmla="val 11218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19049" y="4343400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918411" y="4924044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324405" y="4172407"/>
            <a:ext cx="1714500" cy="1114654"/>
          </a:xfrm>
          <a:prstGeom prst="roundRect">
            <a:avLst>
              <a:gd name="adj" fmla="val 11218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2486254" y="4343400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보장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3784702" y="4924044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90695" y="4172407"/>
            <a:ext cx="1714500" cy="1114654"/>
          </a:xfrm>
          <a:prstGeom prst="roundRect">
            <a:avLst>
              <a:gd name="adj" fmla="val 11218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4352544" y="4343400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51906" y="4924044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057900" y="4172407"/>
            <a:ext cx="1714500" cy="1114654"/>
          </a:xfrm>
          <a:prstGeom prst="roundRect">
            <a:avLst>
              <a:gd name="adj" fmla="val 11218"/>
            </a:avLst>
          </a:prstGeom>
          <a:solidFill>
            <a:srgbClr val="EFF6F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6219749" y="4343400"/>
            <a:ext cx="605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합리적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519111" y="4924044"/>
            <a:ext cx="2103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57200" y="5438851"/>
            <a:ext cx="3581705" cy="1114654"/>
          </a:xfrm>
          <a:prstGeom prst="roundRect">
            <a:avLst>
              <a:gd name="adj" fmla="val 11218"/>
            </a:avLst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5928970"/>
            <a:ext cx="152705" cy="152705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076249" y="5805526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1076249" y="602498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장벽 요인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3157423" y="5767121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3300070" y="5995721"/>
            <a:ext cx="234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39"/>
          <p:cNvSpPr txBox="1"/>
          <p:nvPr/>
        </p:nvSpPr>
        <p:spPr>
          <a:xfrm>
            <a:off x="3631082" y="5767121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3773729" y="5995721"/>
            <a:ext cx="234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4190695" y="5438851"/>
            <a:ext cx="3581705" cy="1114654"/>
          </a:xfrm>
          <a:prstGeom prst="roundRect">
            <a:avLst>
              <a:gd name="adj" fmla="val 11218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2"/>
          <p:cNvSpPr txBox="1"/>
          <p:nvPr/>
        </p:nvSpPr>
        <p:spPr>
          <a:xfrm>
            <a:off x="5058461" y="5900623"/>
            <a:ext cx="1948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기타: 추천(3), 갱신(3), 특약(2)...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8076895" y="1209751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시사점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8076895" y="1676095"/>
            <a:ext cx="3657600" cy="1552651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401507" y="1990649"/>
            <a:ext cx="190195" cy="152705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8762695" y="1923898"/>
            <a:ext cx="15672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vs 보장의 균형</a:t>
            </a:r>
            <a:endParaRPr lang="en-US" sz="1300" dirty="0"/>
          </a:p>
        </p:txBody>
      </p:sp>
      <p:sp>
        <p:nvSpPr>
          <p:cNvPr id="51" name="Text 46"/>
          <p:cNvSpPr txBox="1"/>
          <p:nvPr/>
        </p:nvSpPr>
        <p:spPr>
          <a:xfrm>
            <a:off x="8343900" y="2343607"/>
            <a:ext cx="320588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'절약/할인'(가격) 키워드가 상위권이나, '보장'(8회) 또한 동일 수준으로 중요하게 인식됨. → 단순 저가 소구보다 '합리적 보장 설계' 강조 필요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8076895" y="3374136"/>
            <a:ext cx="3657600" cy="1552651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8"/>
          <p:cNvSpPr/>
          <p:nvPr/>
        </p:nvSpPr>
        <p:spPr>
          <a:xfrm>
            <a:off x="8343900" y="361279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19795" y="3688690"/>
            <a:ext cx="152705" cy="152705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8762695" y="3621938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편의성 수요 급증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8343900" y="4040734"/>
            <a:ext cx="321503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'간편', '합리적' 키워드의 부상은 소비자가 비교의 필요성은 느끼지만 과정의 피로도를 느끼고 있음을 시사. → '5분 완성', '원클릭 비교' 등 간편함 어필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8076895" y="5072177"/>
            <a:ext cx="3657600" cy="1552651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2"/>
          <p:cNvSpPr/>
          <p:nvPr/>
        </p:nvSpPr>
        <p:spPr>
          <a:xfrm>
            <a:off x="8343900" y="5309921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19795" y="5386730"/>
            <a:ext cx="152705" cy="152705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762695" y="5319979"/>
            <a:ext cx="1538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직전 의도 포착</a:t>
            </a:r>
            <a:endParaRPr lang="en-US" sz="1300" dirty="0"/>
          </a:p>
        </p:txBody>
      </p:sp>
      <p:sp>
        <p:nvSpPr>
          <p:cNvPr id="61" name="Text 54"/>
          <p:cNvSpPr txBox="1"/>
          <p:nvPr/>
        </p:nvSpPr>
        <p:spPr>
          <a:xfrm>
            <a:off x="8343900" y="5738774"/>
            <a:ext cx="3186684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'비교', '견적' 등 구체적 행동 키워드가 최상위권에 포진. 이는 정보 탐색을 넘어선 구매 결정 단계임을 의미. → 즉각적인 견적 산출 UX 제공이 핵심</a:t>
            </a:r>
            <a:endParaRPr lang="en-US" sz="1000" dirty="0"/>
          </a:p>
        </p:txBody>
      </p:sp>
      <p:sp>
        <p:nvSpPr>
          <p:cNvPr id="62" name="Shape 5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56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7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8"/>
          <p:cNvSpPr txBox="1"/>
          <p:nvPr/>
        </p:nvSpPr>
        <p:spPr>
          <a:xfrm>
            <a:off x="666598" y="185623"/>
            <a:ext cx="29343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인식 분석: 핵심 키워드</a:t>
            </a:r>
            <a:endParaRPr lang="en-US" sz="1800" dirty="0"/>
          </a:p>
        </p:txBody>
      </p:sp>
      <p:sp>
        <p:nvSpPr>
          <p:cNvPr id="66" name="Text 59"/>
          <p:cNvSpPr txBox="1"/>
          <p:nvPr/>
        </p:nvSpPr>
        <p:spPr>
          <a:xfrm>
            <a:off x="666598" y="538582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CONSUMER PERCEPTION ANALYSIS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05</a:t>
            </a:r>
            <a:endParaRPr lang="en-US" sz="1000" dirty="0"/>
          </a:p>
        </p:txBody>
      </p:sp>
      <p:sp>
        <p:nvSpPr>
          <p:cNvPr id="68" name="Text 61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9" name="Text 62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18895"/>
            <a:ext cx="3562502" cy="518190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71754" y="2505456"/>
            <a:ext cx="810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블로그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1754" y="2866644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탐색 중심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17797" y="1218895"/>
            <a:ext cx="3562502" cy="518190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4632350" y="2505456"/>
            <a:ext cx="1524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카페/커뮤니티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32350" y="2866644"/>
            <a:ext cx="939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공유 중심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78394" y="1218895"/>
            <a:ext cx="3562502" cy="5181905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492947" y="2505456"/>
            <a:ext cx="810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유튜브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92947" y="2866644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가이드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533449"/>
            <a:ext cx="761695" cy="761695"/>
          </a:xfrm>
          <a:prstGeom prst="roundRect">
            <a:avLst>
              <a:gd name="adj" fmla="val 1200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354" y="1762049"/>
            <a:ext cx="304495" cy="30449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71754" y="4839005"/>
            <a:ext cx="2933395" cy="895198"/>
          </a:xfrm>
          <a:prstGeom prst="roundRect">
            <a:avLst>
              <a:gd name="adj" fmla="val 130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1754" y="3276295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INTERESTS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42746" y="3524098"/>
            <a:ext cx="28437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실용 정보 선호: 보장내용, 할인 특약, 비교 방법 등 구체적 정보 검색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42746" y="4071823"/>
            <a:ext cx="28437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 팁: 마일리지, 무사고, 연령 할인 등 보험료 절감 방법 집중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933602" y="5024628"/>
            <a:ext cx="85954" cy="1143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57046" y="499079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933602" y="5191049"/>
            <a:ext cx="26627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"5분 완성 보험료 절약 가이드" 등 실용형 텍스트 콘텐츠 배포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32350" y="1533449"/>
            <a:ext cx="761695" cy="761695"/>
          </a:xfrm>
          <a:prstGeom prst="roundRect">
            <a:avLst>
              <a:gd name="adj" fmla="val 120048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4822546" y="1762049"/>
            <a:ext cx="381305" cy="3044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632350" y="4839005"/>
            <a:ext cx="2933395" cy="895198"/>
          </a:xfrm>
          <a:prstGeom prst="roundRect">
            <a:avLst>
              <a:gd name="adj" fmla="val 130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4632350" y="3276295"/>
            <a:ext cx="10579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&amp; NEEDS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4803343" y="3524098"/>
            <a:ext cx="276788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타겟층: 워킹맘, 직장인 등 바쁜 현대인 중심의 커뮤니티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4803343" y="4071823"/>
            <a:ext cx="285292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소구점: 실제 가입 후기와 견적 비교 경험담을 통한 '간편함' 검증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4794199" y="5024628"/>
            <a:ext cx="142646" cy="1143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975250" y="499079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4794199" y="5191049"/>
            <a:ext cx="26718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가입자 후기 큐레이션 및 "내돈내산" 스타일의 신뢰도 확보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492947" y="1533449"/>
            <a:ext cx="761695" cy="761695"/>
          </a:xfrm>
          <a:prstGeom prst="roundRect">
            <a:avLst>
              <a:gd name="adj" fmla="val 120048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8702345" y="1762049"/>
            <a:ext cx="342900" cy="30449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8492947" y="3583534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7"/>
          <p:cNvSpPr/>
          <p:nvPr/>
        </p:nvSpPr>
        <p:spPr>
          <a:xfrm>
            <a:off x="8492947" y="4131259"/>
            <a:ext cx="57607" cy="5760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8"/>
          <p:cNvSpPr/>
          <p:nvPr/>
        </p:nvSpPr>
        <p:spPr>
          <a:xfrm>
            <a:off x="8492947" y="4839005"/>
            <a:ext cx="2933395" cy="895198"/>
          </a:xfrm>
          <a:prstGeom prst="roundRect">
            <a:avLst>
              <a:gd name="adj" fmla="val 1304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9"/>
          <p:cNvSpPr txBox="1"/>
          <p:nvPr/>
        </p:nvSpPr>
        <p:spPr>
          <a:xfrm>
            <a:off x="8492947" y="3276295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 TYPE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8664854" y="3524098"/>
            <a:ext cx="28245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활용법 교육: 보험다모아 등 비교사이트 실제 화면 시연 및 가이드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8664854" y="4071823"/>
            <a:ext cx="28245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전문적 비교: 자동차상해 vs 자기신체사고 등 어려운 용어 해설</a:t>
            </a:r>
            <a:endParaRPr lang="en-US" sz="10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54796" y="5024628"/>
            <a:ext cx="114300" cy="1143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807501" y="499079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8654796" y="5191049"/>
            <a:ext cx="25959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3~5분 내외의 '따라하기 쉬운' 영상 가이드 및 전문가 해설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5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6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7"/>
          <p:cNvSpPr txBox="1"/>
          <p:nvPr/>
        </p:nvSpPr>
        <p:spPr>
          <a:xfrm>
            <a:off x="666598" y="185623"/>
            <a:ext cx="36100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 인식 분석: 채널별 소비자 반응</a:t>
            </a:r>
            <a:endParaRPr lang="en-US" sz="1800" dirty="0"/>
          </a:p>
        </p:txBody>
      </p:sp>
      <p:sp>
        <p:nvSpPr>
          <p:cNvPr id="46" name="Text 38"/>
          <p:cNvSpPr txBox="1"/>
          <p:nvPr/>
        </p:nvSpPr>
        <p:spPr>
          <a:xfrm>
            <a:off x="666598" y="538582"/>
            <a:ext cx="3877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CONSUMER PERCEPTION ANALYSIS - CHANNEL BREAKDOWN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06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18895"/>
            <a:ext cx="5486400" cy="5553151"/>
          </a:xfrm>
          <a:prstGeom prst="roundRect">
            <a:avLst>
              <a:gd name="adj" fmla="val 4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500530"/>
            <a:ext cx="190195" cy="190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1949" y="144749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1762049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vs 비교 플랫폼 양강 구도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9452" y="1457554"/>
            <a:ext cx="952805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4882896" y="1505102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경쟁강도: 극심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694944" y="2104949"/>
            <a:ext cx="5009998" cy="351495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94944" y="5772607"/>
            <a:ext cx="5009998" cy="761695"/>
          </a:xfrm>
          <a:prstGeom prst="roundRect">
            <a:avLst>
              <a:gd name="adj" fmla="val 1800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857707" y="5943600"/>
            <a:ext cx="468172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Insight: 비교 플랫폼 키워드(40,000+)가 압도적이나, KB다이렉트(13,820) 등 상위 브랜드의 검색량도 견고함. "비교 후 특정 브랜드 지명 검색" 패턴이 혼재됨.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48095" y="1218895"/>
            <a:ext cx="5486400" cy="3495751"/>
          </a:xfrm>
          <a:prstGeom prst="roundRect">
            <a:avLst>
              <a:gd name="adj" fmla="val 1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86754" y="1500530"/>
            <a:ext cx="14264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05295" y="1447495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디지털 전환 트렌드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86754" y="1762049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중심의 탐색 및 가입 환경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6486754" y="2030882"/>
            <a:ext cx="2505456" cy="2438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2317090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MOBILE TRAFFIC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0" y="2459736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66</a:t>
            </a:r>
            <a:endParaRPr lang="en-US" sz="2700" dirty="0"/>
          </a:p>
        </p:txBody>
      </p:sp>
      <p:sp>
        <p:nvSpPr>
          <p:cNvPr id="20" name="Text 14"/>
          <p:cNvSpPr txBox="1"/>
          <p:nvPr/>
        </p:nvSpPr>
        <p:spPr>
          <a:xfrm>
            <a:off x="9561881" y="2535631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9858146" y="2631643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CTR 우위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3250692"/>
            <a:ext cx="1400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 FRESHNESS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0" y="3393338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73</a:t>
            </a:r>
            <a:endParaRPr lang="en-US" sz="2700" dirty="0"/>
          </a:p>
        </p:txBody>
      </p:sp>
      <p:sp>
        <p:nvSpPr>
          <p:cNvPr id="24" name="Text 18"/>
          <p:cNvSpPr txBox="1"/>
          <p:nvPr/>
        </p:nvSpPr>
        <p:spPr>
          <a:xfrm>
            <a:off x="9561881" y="3469234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0" y="3859682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3개월 내 생성된 콘텐츠 비중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0" y="4012387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(시장 활성도 지속 상승)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248095" y="4938674"/>
            <a:ext cx="5486400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486754" y="517641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6581851" y="5253228"/>
            <a:ext cx="114300" cy="1527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05549" y="5205679"/>
            <a:ext cx="2196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변화 (News Analysis)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486754" y="5633618"/>
            <a:ext cx="28346" cy="5330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6629400" y="5633618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KB손해보험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6629400" y="5853074"/>
            <a:ext cx="2276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다이렉트본부장 신규 임원 선임 등 디지털 전담 조직 권한 강화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068105" y="5633618"/>
            <a:ext cx="28346" cy="5330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/>
          <p:cNvSpPr txBox="1"/>
          <p:nvPr/>
        </p:nvSpPr>
        <p:spPr>
          <a:xfrm>
            <a:off x="9210751" y="563361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공통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9210751" y="5853074"/>
            <a:ext cx="2276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CM(Cyber Marketing) 채널 비중 확대를 위한 UI/UX 전담팀 신설 추세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457200" y="295351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666598" y="181051"/>
            <a:ext cx="40864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환경 분석: 경쟁 구도 &amp; 디지털 트렌드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666598" y="533095"/>
            <a:ext cx="2210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 ENVIRONMENT ANALYSIS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11238890" y="35204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07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18895"/>
            <a:ext cx="5486400" cy="5333695"/>
          </a:xfrm>
          <a:prstGeom prst="roundRect">
            <a:avLst>
              <a:gd name="adj" fmla="val 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18895"/>
            <a:ext cx="5467198" cy="57607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1754" y="1524305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#01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1754" y="1695298"/>
            <a:ext cx="2667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"비교 피로도"를 해소하라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71846" y="1533449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5315407" y="1666951"/>
            <a:ext cx="171907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1754" y="2238451"/>
            <a:ext cx="4858207" cy="1399946"/>
          </a:xfrm>
          <a:prstGeom prst="roundRect">
            <a:avLst>
              <a:gd name="adj" fmla="val 35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2007" y="2535631"/>
            <a:ext cx="114300" cy="1143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2202" y="2517343"/>
            <a:ext cx="7434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972007" y="2745943"/>
            <a:ext cx="2705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"비교는 필요하지만 과정이 너무 힘들다"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72007" y="3050438"/>
            <a:ext cx="743407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057046" y="3097987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복잡함(5회)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751990" y="3050438"/>
            <a:ext cx="866851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1837944" y="3097987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용어 장벽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656332" y="3050438"/>
            <a:ext cx="866851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2742286" y="3097987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설계 부담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856" b="-856"/>
          <a:stretch/>
        </p:blipFill>
        <p:spPr>
          <a:xfrm>
            <a:off x="3133649" y="3762756"/>
            <a:ext cx="133502" cy="181051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71754" y="4071823"/>
            <a:ext cx="4858207" cy="1399946"/>
          </a:xfrm>
          <a:prstGeom prst="roundRect">
            <a:avLst>
              <a:gd name="adj" fmla="val 35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972007" y="4369918"/>
            <a:ext cx="85954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33856" y="4350715"/>
            <a:ext cx="905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972007" y="4579315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"결정을 쉽게 만드는 도구가 필요하다"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72007" y="4883810"/>
            <a:ext cx="638251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057046" y="4931359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간편(7회)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1646834" y="4883810"/>
            <a:ext cx="743407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732788" y="4931359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합리적(7회)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71754" y="5695798"/>
            <a:ext cx="4858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771754" y="5857646"/>
            <a:ext cx="49103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 단순히 정보를 나열하는 것이 아니라, 큐레이션된 추천과 쉬운 가이드로 결정 비용을 낮춰야 함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248095" y="1218895"/>
            <a:ext cx="5486400" cy="5333695"/>
          </a:xfrm>
          <a:prstGeom prst="roundRect">
            <a:avLst>
              <a:gd name="adj" fmla="val 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6248095" y="1218895"/>
            <a:ext cx="5467198" cy="5760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6562649" y="1524305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#02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562649" y="1695298"/>
            <a:ext cx="23436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가격만으로는 부족하다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0963656" y="153344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72470" y="1666951"/>
            <a:ext cx="237744" cy="19019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562649" y="2238451"/>
            <a:ext cx="4858207" cy="1619402"/>
          </a:xfrm>
          <a:prstGeom prst="roundRect">
            <a:avLst>
              <a:gd name="adj" fmla="val 398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>
            <a:alphaModFix amt="90000"/>
          </a:blip>
          <a:srcRect/>
          <a:stretch/>
        </p:blipFill>
        <p:spPr>
          <a:xfrm>
            <a:off x="8876995" y="2457907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8586216" y="2762402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요구 사항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8573414" y="3000146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경쟁력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8316468" y="3333902"/>
            <a:ext cx="638251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8402422" y="3381451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절약(9회)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8991295" y="3333902"/>
            <a:ext cx="638251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9077249" y="3381451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할인(8회)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6562649" y="3857854"/>
            <a:ext cx="4858207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>
            <a:alphaModFix amt="90000"/>
          </a:blip>
          <a:srcRect/>
          <a:stretch/>
        </p:blipFill>
        <p:spPr>
          <a:xfrm>
            <a:off x="8876995" y="4067251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8604504" y="4371746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동등한 중요도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8573414" y="4610405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충실한 보장</a:t>
            </a:r>
            <a:endParaRPr lang="en-US" sz="1300" dirty="0"/>
          </a:p>
        </p:txBody>
      </p:sp>
      <p:sp>
        <p:nvSpPr>
          <p:cNvPr id="49" name="Shape 40"/>
          <p:cNvSpPr/>
          <p:nvPr/>
        </p:nvSpPr>
        <p:spPr>
          <a:xfrm>
            <a:off x="8443570" y="4943246"/>
            <a:ext cx="638251" cy="267005"/>
          </a:xfrm>
          <a:prstGeom prst="roundRect">
            <a:avLst>
              <a:gd name="adj" fmla="val 489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1"/>
          <p:cNvSpPr txBox="1"/>
          <p:nvPr/>
        </p:nvSpPr>
        <p:spPr>
          <a:xfrm>
            <a:off x="8529523" y="4990795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보장(8회)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9119311" y="4943246"/>
            <a:ext cx="390449" cy="267005"/>
          </a:xfrm>
          <a:prstGeom prst="roundRect">
            <a:avLst>
              <a:gd name="adj" fmla="val 4892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3"/>
          <p:cNvSpPr txBox="1"/>
          <p:nvPr/>
        </p:nvSpPr>
        <p:spPr>
          <a:xfrm>
            <a:off x="9205265" y="4990795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혜택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6562649" y="5695798"/>
            <a:ext cx="4858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5"/>
          <p:cNvSpPr txBox="1"/>
          <p:nvPr/>
        </p:nvSpPr>
        <p:spPr>
          <a:xfrm>
            <a:off x="6562649" y="5857646"/>
            <a:ext cx="48536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 "무조건 싸다"는 메시지는 신뢰를 잃을 수 있음. "내게 맞는 최적 조건(가격+보장)"으로 합리적 선택임을 강조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8839505" y="3700577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8939174" y="3795674"/>
            <a:ext cx="105156" cy="114300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8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9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0"/>
          <p:cNvSpPr txBox="1"/>
          <p:nvPr/>
        </p:nvSpPr>
        <p:spPr>
          <a:xfrm>
            <a:off x="666598" y="185623"/>
            <a:ext cx="2658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마케팅 인사이트 #1-2</a:t>
            </a:r>
            <a:endParaRPr lang="en-US" sz="1800" dirty="0"/>
          </a:p>
        </p:txBody>
      </p:sp>
      <p:sp>
        <p:nvSpPr>
          <p:cNvPr id="61" name="Text 51"/>
          <p:cNvSpPr txBox="1"/>
          <p:nvPr/>
        </p:nvSpPr>
        <p:spPr>
          <a:xfrm>
            <a:off x="666598" y="538582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MARKETING INSIGHTS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08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4" name="Text 54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18895"/>
            <a:ext cx="5486400" cy="5333695"/>
          </a:xfrm>
          <a:prstGeom prst="roundRect">
            <a:avLst>
              <a:gd name="adj" fmla="val 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1016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18895"/>
            <a:ext cx="5467198" cy="5760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1754" y="1524305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#03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1754" y="1695298"/>
            <a:ext cx="30202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= 정보탐색 + 즉시전환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71846" y="1533449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29123" y="1666951"/>
            <a:ext cx="142646" cy="1901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71754" y="2238451"/>
            <a:ext cx="4858207" cy="1495044"/>
          </a:xfrm>
          <a:prstGeom prst="roundRect">
            <a:avLst>
              <a:gd name="adj" fmla="val 46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2007" y="2584094"/>
            <a:ext cx="114300" cy="1143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2202" y="2564892"/>
            <a:ext cx="12097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BEHAVIOR PATTERN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972007" y="2793492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"검색부터 가입까지 모바일로 끝낸다"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72007" y="3097987"/>
            <a:ext cx="1114654" cy="267005"/>
          </a:xfrm>
          <a:prstGeom prst="roundRect">
            <a:avLst>
              <a:gd name="adj" fmla="val 73385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076249" y="3145536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검색 66%+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116836" y="3097987"/>
            <a:ext cx="676656" cy="267005"/>
          </a:xfrm>
          <a:prstGeom prst="roundRect">
            <a:avLst>
              <a:gd name="adj" fmla="val 73385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2221078" y="314553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CTR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825496" y="3097987"/>
            <a:ext cx="875995" cy="267005"/>
          </a:xfrm>
          <a:prstGeom prst="roundRect">
            <a:avLst>
              <a:gd name="adj" fmla="val 73385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2930652" y="3145536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간편가입 선호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856" b="-856"/>
          <a:stretch/>
        </p:blipFill>
        <p:spPr>
          <a:xfrm>
            <a:off x="3133649" y="3857854"/>
            <a:ext cx="133502" cy="181051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71754" y="4166921"/>
            <a:ext cx="4858207" cy="1495044"/>
          </a:xfrm>
          <a:prstGeom prst="roundRect">
            <a:avLst>
              <a:gd name="adj" fmla="val 46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2007" y="4512564"/>
            <a:ext cx="114300" cy="1143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62202" y="4493362"/>
            <a:ext cx="905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972007" y="4721962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"끊김 없는 원스톱 경험이 핵심"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72007" y="5026457"/>
            <a:ext cx="1076249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1076249" y="5074006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비교→견적→가입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078431" y="5026457"/>
            <a:ext cx="733349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2183587" y="507400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통합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71754" y="5886907"/>
            <a:ext cx="4858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771754" y="6048756"/>
            <a:ext cx="4644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 모바일 UX가 전환율의 핵심 변수. 퍼널 이탈을 최소화하는 UX 최적화 필수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248095" y="1218895"/>
            <a:ext cx="5486400" cy="5333695"/>
          </a:xfrm>
          <a:prstGeom prst="roundRect">
            <a:avLst>
              <a:gd name="adj" fmla="val 4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1016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6248095" y="1218895"/>
            <a:ext cx="5467198" cy="57607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6562649" y="1524305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 #04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562649" y="1695298"/>
            <a:ext cx="3038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신뢰 × 비교 경험 공존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0963656" y="1533449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072470" y="1666951"/>
            <a:ext cx="237744" cy="19019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6562649" y="2238451"/>
            <a:ext cx="2352751" cy="2829154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7610551" y="2872130"/>
            <a:ext cx="256946" cy="2286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320686" y="3224174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파워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7407554" y="3510382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신뢰와 안정성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724498" y="3786530"/>
            <a:ext cx="2029054" cy="267005"/>
          </a:xfrm>
          <a:prstGeom prst="roundRect">
            <a:avLst>
              <a:gd name="adj" fmla="val 73385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7285939" y="3834079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보험사 키워드 강세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6724498" y="4129430"/>
            <a:ext cx="2029054" cy="267005"/>
          </a:xfrm>
          <a:prstGeom prst="roundRect">
            <a:avLst>
              <a:gd name="adj" fmla="val 73385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 txBox="1"/>
          <p:nvPr/>
        </p:nvSpPr>
        <p:spPr>
          <a:xfrm>
            <a:off x="7419442" y="4176979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KB 등 상위권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9068105" y="2238451"/>
            <a:ext cx="2352751" cy="2829154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129723" y="2872130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9826142" y="3224174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비교</a:t>
            </a:r>
            <a:endParaRPr lang="en-US" sz="1300" dirty="0"/>
          </a:p>
        </p:txBody>
      </p:sp>
      <p:sp>
        <p:nvSpPr>
          <p:cNvPr id="48" name="Text 39"/>
          <p:cNvSpPr txBox="1"/>
          <p:nvPr/>
        </p:nvSpPr>
        <p:spPr>
          <a:xfrm>
            <a:off x="9912096" y="3510382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실익과 합리성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9229954" y="3786530"/>
            <a:ext cx="2029054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1"/>
          <p:cNvSpPr txBox="1"/>
          <p:nvPr/>
        </p:nvSpPr>
        <p:spPr>
          <a:xfrm>
            <a:off x="9829800" y="3834079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검색 4만+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9229954" y="4129430"/>
            <a:ext cx="2029054" cy="267005"/>
          </a:xfrm>
          <a:prstGeom prst="roundRect">
            <a:avLst>
              <a:gd name="adj" fmla="val 7338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3"/>
          <p:cNvSpPr txBox="1"/>
          <p:nvPr/>
        </p:nvSpPr>
        <p:spPr>
          <a:xfrm>
            <a:off x="9965131" y="4176979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정보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6562649" y="5219395"/>
            <a:ext cx="4858207" cy="437998"/>
          </a:xfrm>
          <a:prstGeom prst="roundRect">
            <a:avLst>
              <a:gd name="adj" fmla="val 36307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57693" y="5379415"/>
            <a:ext cx="133502" cy="133502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8267090" y="5343754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승리 공식: 브랜드 + 투명 비교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6562649" y="5886907"/>
            <a:ext cx="4858207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7"/>
          <p:cNvSpPr txBox="1"/>
          <p:nvPr/>
        </p:nvSpPr>
        <p:spPr>
          <a:xfrm>
            <a:off x="6562649" y="6048756"/>
            <a:ext cx="4872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 브랜드 인지도로 유입시키고, 투명한 비교 경험으로 신뢰를 완성하여 전환 유도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8839505" y="3795674"/>
            <a:ext cx="304495" cy="3044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rcRect t="-1359" b="-1359"/>
          <a:stretch/>
        </p:blipFill>
        <p:spPr>
          <a:xfrm>
            <a:off x="8939174" y="3886200"/>
            <a:ext cx="105156" cy="123444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0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1"/>
          <p:cNvSpPr/>
          <p:nvPr/>
        </p:nvSpPr>
        <p:spPr>
          <a:xfrm>
            <a:off x="457200" y="295351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666598" y="181051"/>
            <a:ext cx="2658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마케팅 인사이트 #3-4</a:t>
            </a:r>
            <a:endParaRPr lang="en-US" sz="1800" dirty="0"/>
          </a:p>
        </p:txBody>
      </p:sp>
      <p:sp>
        <p:nvSpPr>
          <p:cNvPr id="64" name="Text 53"/>
          <p:cNvSpPr txBox="1"/>
          <p:nvPr/>
        </p:nvSpPr>
        <p:spPr>
          <a:xfrm>
            <a:off x="666598" y="533095"/>
            <a:ext cx="1762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MARKETING INSIGHTS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11238890" y="35204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09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18895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1295705"/>
            <a:ext cx="152705" cy="1527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5995" y="1228954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키워드 전략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3657600" cy="2247595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694944" y="2076602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키워드 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49347" y="2066544"/>
            <a:ext cx="1333195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635301" y="2104949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COMPETITION: HIGH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486254"/>
            <a:ext cx="2938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의도가 매우 높고 전환율이 입증된 메인 키워드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4944" y="2829154"/>
            <a:ext cx="1324051" cy="333756"/>
          </a:xfrm>
          <a:prstGeom prst="roundRect">
            <a:avLst>
              <a:gd name="adj" fmla="val 46967"/>
            </a:avLst>
          </a:prstGeom>
          <a:solidFill>
            <a:srgbClr val="FEF2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19302" y="2895905"/>
            <a:ext cx="11740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다이렉트자동차보험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91233" y="2829154"/>
            <a:ext cx="1447495" cy="333756"/>
          </a:xfrm>
          <a:prstGeom prst="roundRect">
            <a:avLst>
              <a:gd name="adj" fmla="val 46967"/>
            </a:avLst>
          </a:prstGeom>
          <a:solidFill>
            <a:srgbClr val="FEF2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2215591" y="2895905"/>
            <a:ext cx="12975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자동차보험료비교견적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" y="3232404"/>
            <a:ext cx="1209751" cy="333756"/>
          </a:xfrm>
          <a:prstGeom prst="roundRect">
            <a:avLst>
              <a:gd name="adj" fmla="val 46967"/>
            </a:avLst>
          </a:prstGeom>
          <a:solidFill>
            <a:srgbClr val="FEF2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19302" y="3299155"/>
            <a:ext cx="10597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저렴한자동차보험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972361" y="3232404"/>
            <a:ext cx="1086307" cy="333756"/>
          </a:xfrm>
          <a:prstGeom prst="roundRect">
            <a:avLst>
              <a:gd name="adj" fmla="val 46967"/>
            </a:avLst>
          </a:prstGeom>
          <a:solidFill>
            <a:srgbClr val="FEF2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2095805" y="3299155"/>
            <a:ext cx="935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E12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자동차보험추천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4944" y="3636569"/>
            <a:ext cx="31811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3822192"/>
            <a:ext cx="114300" cy="1143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86054" y="3789274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 최고 구간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57200" y="4304995"/>
            <a:ext cx="3657600" cy="2247595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694944" y="4552798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틈새(Long-tail) 키워드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2524658" y="4543654"/>
            <a:ext cx="1352398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2609698" y="4581144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OPPORTUNITY: HIGH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694944" y="4962449"/>
            <a:ext cx="2786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상황과 니즈를 반영한 세부 키워드 공략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94944" y="5305349"/>
            <a:ext cx="1238098" cy="333756"/>
          </a:xfrm>
          <a:prstGeom prst="roundRect">
            <a:avLst>
              <a:gd name="adj" fmla="val 469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 txBox="1"/>
          <p:nvPr/>
        </p:nvSpPr>
        <p:spPr>
          <a:xfrm>
            <a:off x="819302" y="5372100"/>
            <a:ext cx="10881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워킹맘 자동차보험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008022" y="5305349"/>
            <a:ext cx="1067105" cy="333756"/>
          </a:xfrm>
          <a:prstGeom prst="roundRect">
            <a:avLst>
              <a:gd name="adj" fmla="val 469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 txBox="1"/>
          <p:nvPr/>
        </p:nvSpPr>
        <p:spPr>
          <a:xfrm>
            <a:off x="2132381" y="5372100"/>
            <a:ext cx="9171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첫차 보험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94944" y="5709514"/>
            <a:ext cx="1123798" cy="333756"/>
          </a:xfrm>
          <a:prstGeom prst="roundRect">
            <a:avLst>
              <a:gd name="adj" fmla="val 469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819302" y="5776265"/>
            <a:ext cx="973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중고차 다이렉트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1889150" y="5709514"/>
            <a:ext cx="1162202" cy="333756"/>
          </a:xfrm>
          <a:prstGeom prst="roundRect">
            <a:avLst>
              <a:gd name="adj" fmla="val 469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2013509" y="5776265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운전자 특약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94944" y="6113678"/>
            <a:ext cx="31811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944" y="6299302"/>
            <a:ext cx="114300" cy="11430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86054" y="6265469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정확도 우수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419295" y="1218895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96105" y="1295705"/>
            <a:ext cx="152705" cy="15270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4839005" y="1228954"/>
            <a:ext cx="25813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채널별 콘텐츠 제작 체크리스트</a:t>
            </a:r>
            <a:endParaRPr lang="en-US" sz="1500" dirty="0"/>
          </a:p>
        </p:txBody>
      </p:sp>
      <p:sp>
        <p:nvSpPr>
          <p:cNvPr id="42" name="Shape 36"/>
          <p:cNvSpPr/>
          <p:nvPr/>
        </p:nvSpPr>
        <p:spPr>
          <a:xfrm>
            <a:off x="4419295" y="1676095"/>
            <a:ext cx="7315200" cy="146669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7"/>
          <p:cNvSpPr/>
          <p:nvPr/>
        </p:nvSpPr>
        <p:spPr>
          <a:xfrm>
            <a:off x="4619549" y="18763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53051" y="2009851"/>
            <a:ext cx="190195" cy="19019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5229454" y="1886407"/>
            <a:ext cx="27294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NAVER BLOG | 정보성/실용성 중심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5229454" y="2257654"/>
            <a:ext cx="3095244" cy="609905"/>
          </a:xfrm>
          <a:prstGeom prst="roundRect">
            <a:avLst>
              <a:gd name="adj" fmla="val 18741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91302" y="2419502"/>
            <a:ext cx="152705" cy="15270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5658307" y="2381098"/>
            <a:ext cx="1681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 완성 보험료 절약 가이드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5658307" y="2581351"/>
            <a:ext cx="1476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특약을 알기 쉽게 풀이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8438998" y="2257654"/>
            <a:ext cx="3095244" cy="609905"/>
          </a:xfrm>
          <a:prstGeom prst="roundRect">
            <a:avLst>
              <a:gd name="adj" fmla="val 18741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600846" y="2419502"/>
            <a:ext cx="152705" cy="152705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867851" y="2381098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특약 체크리스트 배포</a:t>
            </a:r>
            <a:endParaRPr lang="en-US" sz="1000" dirty="0"/>
          </a:p>
        </p:txBody>
      </p:sp>
      <p:sp>
        <p:nvSpPr>
          <p:cNvPr id="53" name="Text 44"/>
          <p:cNvSpPr txBox="1"/>
          <p:nvPr/>
        </p:nvSpPr>
        <p:spPr>
          <a:xfrm>
            <a:off x="8867851" y="2581351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 가능한 이미지 제공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4419295" y="3295498"/>
            <a:ext cx="7315200" cy="146669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6"/>
          <p:cNvSpPr/>
          <p:nvPr/>
        </p:nvSpPr>
        <p:spPr>
          <a:xfrm>
            <a:off x="4619549" y="34957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4738421" y="3629254"/>
            <a:ext cx="219456" cy="190195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5229454" y="3504895"/>
            <a:ext cx="2310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YOUTUBE | 시연/가이드 중심</a:t>
            </a:r>
            <a:endParaRPr lang="en-US" sz="1300" dirty="0"/>
          </a:p>
        </p:txBody>
      </p:sp>
      <p:sp>
        <p:nvSpPr>
          <p:cNvPr id="58" name="Shape 48"/>
          <p:cNvSpPr/>
          <p:nvPr/>
        </p:nvSpPr>
        <p:spPr>
          <a:xfrm>
            <a:off x="5229454" y="3877056"/>
            <a:ext cx="3095244" cy="609905"/>
          </a:xfrm>
          <a:prstGeom prst="roundRect">
            <a:avLst>
              <a:gd name="adj" fmla="val 18741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391302" y="4038905"/>
            <a:ext cx="152705" cy="152705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5658307" y="4000500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비교사이트 실전 활용법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5658307" y="4200754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녹화를 통한 따라하기 콘텐츠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8438998" y="3877056"/>
            <a:ext cx="3095244" cy="609905"/>
          </a:xfrm>
          <a:prstGeom prst="roundRect">
            <a:avLst>
              <a:gd name="adj" fmla="val 18741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00846" y="4038905"/>
            <a:ext cx="152705" cy="152705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8867851" y="4000500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3~5분 숏가이드 영상</a:t>
            </a:r>
            <a:endParaRPr lang="en-US" sz="1000" dirty="0"/>
          </a:p>
        </p:txBody>
      </p:sp>
      <p:sp>
        <p:nvSpPr>
          <p:cNvPr id="65" name="Text 53"/>
          <p:cNvSpPr txBox="1"/>
          <p:nvPr/>
        </p:nvSpPr>
        <p:spPr>
          <a:xfrm>
            <a:off x="8867851" y="4200754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이탈률 방지를 위한 속도감 있는 편집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4419295" y="4914900"/>
            <a:ext cx="7315200" cy="146669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5"/>
          <p:cNvSpPr/>
          <p:nvPr/>
        </p:nvSpPr>
        <p:spPr>
          <a:xfrm>
            <a:off x="4619549" y="5115154"/>
            <a:ext cx="45720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29277" y="5248656"/>
            <a:ext cx="237744" cy="190195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5229454" y="5124298"/>
            <a:ext cx="3033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CAFE &amp; COMMUNITY | 후기/경험 공유</a:t>
            </a:r>
            <a:endParaRPr lang="en-US" sz="1300" dirty="0"/>
          </a:p>
        </p:txBody>
      </p:sp>
      <p:sp>
        <p:nvSpPr>
          <p:cNvPr id="70" name="Shape 57"/>
          <p:cNvSpPr/>
          <p:nvPr/>
        </p:nvSpPr>
        <p:spPr>
          <a:xfrm>
            <a:off x="5229454" y="5495544"/>
            <a:ext cx="3095244" cy="609905"/>
          </a:xfrm>
          <a:prstGeom prst="roundRect">
            <a:avLst>
              <a:gd name="adj" fmla="val 18741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391302" y="5658307"/>
            <a:ext cx="152705" cy="152705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5658307" y="561990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가입 후기 큐레이션</a:t>
            </a:r>
            <a:endParaRPr lang="en-US" sz="1000" dirty="0"/>
          </a:p>
        </p:txBody>
      </p:sp>
      <p:sp>
        <p:nvSpPr>
          <p:cNvPr id="73" name="Text 59"/>
          <p:cNvSpPr txBox="1"/>
          <p:nvPr/>
        </p:nvSpPr>
        <p:spPr>
          <a:xfrm>
            <a:off x="5658307" y="5820156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"얼마나 절약했는지" 구체적 수치 공개</a:t>
            </a:r>
            <a:endParaRPr lang="en-US" sz="900" dirty="0"/>
          </a:p>
        </p:txBody>
      </p:sp>
      <p:sp>
        <p:nvSpPr>
          <p:cNvPr id="74" name="Shape 60"/>
          <p:cNvSpPr/>
          <p:nvPr/>
        </p:nvSpPr>
        <p:spPr>
          <a:xfrm>
            <a:off x="8438998" y="5495544"/>
            <a:ext cx="3095244" cy="609905"/>
          </a:xfrm>
          <a:prstGeom prst="roundRect">
            <a:avLst>
              <a:gd name="adj" fmla="val 18741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00846" y="5658307"/>
            <a:ext cx="152705" cy="152705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867851" y="5619902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Q&amp;A 및 고민 상담</a:t>
            </a:r>
            <a:endParaRPr lang="en-US" sz="1000" dirty="0"/>
          </a:p>
        </p:txBody>
      </p:sp>
      <p:sp>
        <p:nvSpPr>
          <p:cNvPr id="77" name="Text 62"/>
          <p:cNvSpPr txBox="1"/>
          <p:nvPr/>
        </p:nvSpPr>
        <p:spPr>
          <a:xfrm>
            <a:off x="8867851" y="5820156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댓글을 통한 즉각적인 정보 제공</a:t>
            </a:r>
            <a:endParaRPr lang="en-US" sz="900" dirty="0"/>
          </a:p>
        </p:txBody>
      </p:sp>
      <p:sp>
        <p:nvSpPr>
          <p:cNvPr id="78" name="Shape 6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4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65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66"/>
          <p:cNvSpPr txBox="1"/>
          <p:nvPr/>
        </p:nvSpPr>
        <p:spPr>
          <a:xfrm>
            <a:off x="666598" y="185623"/>
            <a:ext cx="33147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1: 콘텐츠 마케팅 (SEO)</a:t>
            </a:r>
            <a:endParaRPr lang="en-US" sz="1800" dirty="0"/>
          </a:p>
        </p:txBody>
      </p:sp>
      <p:sp>
        <p:nvSpPr>
          <p:cNvPr id="82" name="Text 67"/>
          <p:cNvSpPr txBox="1"/>
          <p:nvPr/>
        </p:nvSpPr>
        <p:spPr>
          <a:xfrm>
            <a:off x="666598" y="538582"/>
            <a:ext cx="2839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STRATEGY 1: CONTENT MARKETING</a:t>
            </a:r>
            <a:endParaRPr lang="en-US" sz="900" dirty="0"/>
          </a:p>
        </p:txBody>
      </p:sp>
      <p:sp>
        <p:nvSpPr>
          <p:cNvPr id="83" name="Text 68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10</a:t>
            </a:r>
            <a:endParaRPr lang="en-US" sz="1000" dirty="0"/>
          </a:p>
        </p:txBody>
      </p:sp>
      <p:sp>
        <p:nvSpPr>
          <p:cNvPr id="84" name="Text 69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5" name="Text 70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33195"/>
            <a:ext cx="5186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환경에서의 이탈을 최소화하기 위한 4단계 원스톱 프로세스 설계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05949" y="1295705"/>
            <a:ext cx="1628546" cy="323698"/>
          </a:xfrm>
          <a:prstGeom prst="roundRect">
            <a:avLst>
              <a:gd name="adj" fmla="val 28248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420502" y="1371600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GOAL: SEAMLESS UX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869534"/>
            <a:ext cx="11277295" cy="705002"/>
          </a:xfrm>
          <a:prstGeom prst="roundRect">
            <a:avLst>
              <a:gd name="adj" fmla="val 21033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752551" y="6145682"/>
            <a:ext cx="114300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52144" y="6050585"/>
            <a:ext cx="1452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Optimization Insight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6231636"/>
            <a:ext cx="5000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단계의 이탈률을 5% 미만으로 유지하기 위해 속도(Speed)와 단순함(Simplicity)에 집중해야 합니다.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525305" y="6022238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 CTR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913010" y="6184087"/>
            <a:ext cx="448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35%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0277856" y="6264554"/>
            <a:ext cx="85954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830154" y="6022238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122762" y="6184087"/>
            <a:ext cx="448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12%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11487607" y="6264554"/>
            <a:ext cx="85954" cy="11430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3114446" y="3653942"/>
            <a:ext cx="114300" cy="181051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6038698" y="3653942"/>
            <a:ext cx="114300" cy="181051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8962949" y="3653942"/>
            <a:ext cx="114300" cy="181051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57200" y="1923898"/>
            <a:ext cx="2505456" cy="3648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 w="50800">
            <a:solidFill>
              <a:srgbClr val="3B82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3"/>
          <p:cNvSpPr txBox="1"/>
          <p:nvPr/>
        </p:nvSpPr>
        <p:spPr>
          <a:xfrm>
            <a:off x="2253082" y="1952244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600" dirty="0"/>
          </a:p>
        </p:txBody>
      </p:sp>
      <p:sp>
        <p:nvSpPr>
          <p:cNvPr id="22" name="Text 14"/>
          <p:cNvSpPr txBox="1"/>
          <p:nvPr/>
        </p:nvSpPr>
        <p:spPr>
          <a:xfrm>
            <a:off x="657454" y="2790749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→ 랜딩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657454" y="3095244"/>
            <a:ext cx="1420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 ENGAGEMENT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790956" y="3409798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혜택 즉시 노출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790956" y="3661258"/>
            <a:ext cx="12975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가격/보장 균형 메시지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790956" y="3912718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팝업 제거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57454" y="4392778"/>
            <a:ext cx="2104949" cy="93360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780898" y="4507078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TIME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2533802" y="4536338"/>
            <a:ext cx="105156" cy="1143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80898" y="4688129"/>
            <a:ext cx="7525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sec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780898" y="5041087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이내 핵심 가치 전달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3381451" y="1923898"/>
            <a:ext cx="2505456" cy="3648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 w="50800">
            <a:solidFill>
              <a:srgbClr val="6366F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5177333" y="1952244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  <p:sp>
        <p:nvSpPr>
          <p:cNvPr id="34" name="Text 25"/>
          <p:cNvSpPr txBox="1"/>
          <p:nvPr/>
        </p:nvSpPr>
        <p:spPr>
          <a:xfrm>
            <a:off x="3581705" y="27907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견적 산출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3581705" y="3095244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QUOTE PROCESS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3715207" y="3409798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차량번호 자동 조회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3715207" y="3661258"/>
            <a:ext cx="9738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본인인증 간소화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3715207" y="3912718"/>
            <a:ext cx="1164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입력 필드 설계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581705" y="4392778"/>
            <a:ext cx="2104949" cy="933602"/>
          </a:xfrm>
          <a:prstGeom prst="roundRect">
            <a:avLst>
              <a:gd name="adj" fmla="val 799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1"/>
          <p:cNvSpPr txBox="1"/>
          <p:nvPr/>
        </p:nvSpPr>
        <p:spPr>
          <a:xfrm>
            <a:off x="3705149" y="4507078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TIME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5458054" y="4536338"/>
            <a:ext cx="105156" cy="1143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3705149" y="4688129"/>
            <a:ext cx="8293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min</a:t>
            </a:r>
            <a:endParaRPr lang="en-US" sz="1800" dirty="0"/>
          </a:p>
        </p:txBody>
      </p:sp>
      <p:sp>
        <p:nvSpPr>
          <p:cNvPr id="43" name="Text 33"/>
          <p:cNvSpPr txBox="1"/>
          <p:nvPr/>
        </p:nvSpPr>
        <p:spPr>
          <a:xfrm>
            <a:off x="3705149" y="5041087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견적 결과 확인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305702" y="1923898"/>
            <a:ext cx="2505456" cy="3648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 w="50800">
            <a:solidFill>
              <a:srgbClr val="8B5CF6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/>
          <p:cNvSpPr txBox="1"/>
          <p:nvPr/>
        </p:nvSpPr>
        <p:spPr>
          <a:xfrm>
            <a:off x="8101584" y="1952244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  <p:sp>
        <p:nvSpPr>
          <p:cNvPr id="46" name="Text 36"/>
          <p:cNvSpPr txBox="1"/>
          <p:nvPr/>
        </p:nvSpPr>
        <p:spPr>
          <a:xfrm>
            <a:off x="6505956" y="27907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분석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6505956" y="3095244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6638544" y="3409798"/>
            <a:ext cx="12408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3사 이상 자동 비교표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6638544" y="3661258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개인화 추천 배지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6638544" y="3912718"/>
            <a:ext cx="1278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어려운 용어 툴팁 제공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6505956" y="4431182"/>
            <a:ext cx="2104949" cy="895198"/>
          </a:xfrm>
          <a:prstGeom prst="roundRect">
            <a:avLst>
              <a:gd name="adj" fmla="val 86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6629400" y="4545482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FEATURE</a:t>
            </a:r>
            <a:endParaRPr lang="en-US" sz="9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8343900" y="4573829"/>
            <a:ext cx="142646" cy="1143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629400" y="4754880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Auto-Compare</a:t>
            </a:r>
            <a:endParaRPr lang="en-US" sz="1300" dirty="0"/>
          </a:p>
        </p:txBody>
      </p:sp>
      <p:sp>
        <p:nvSpPr>
          <p:cNvPr id="55" name="Text 44"/>
          <p:cNvSpPr txBox="1"/>
          <p:nvPr/>
        </p:nvSpPr>
        <p:spPr>
          <a:xfrm>
            <a:off x="6629400" y="5041087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객관적 지표 제공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9229954" y="1923898"/>
            <a:ext cx="2505456" cy="3648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 w="50800">
            <a:solidFill>
              <a:srgbClr val="10B981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6"/>
          <p:cNvSpPr txBox="1"/>
          <p:nvPr/>
        </p:nvSpPr>
        <p:spPr>
          <a:xfrm>
            <a:off x="11025835" y="1952244"/>
            <a:ext cx="905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600" dirty="0"/>
          </a:p>
        </p:txBody>
      </p:sp>
      <p:sp>
        <p:nvSpPr>
          <p:cNvPr id="58" name="Text 47"/>
          <p:cNvSpPr txBox="1"/>
          <p:nvPr/>
        </p:nvSpPr>
        <p:spPr>
          <a:xfrm>
            <a:off x="9430207" y="27907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완료</a:t>
            </a:r>
            <a:endParaRPr lang="en-US" sz="1500" dirty="0"/>
          </a:p>
        </p:txBody>
      </p:sp>
      <p:sp>
        <p:nvSpPr>
          <p:cNvPr id="59" name="Text 48"/>
          <p:cNvSpPr txBox="1"/>
          <p:nvPr/>
        </p:nvSpPr>
        <p:spPr>
          <a:xfrm>
            <a:off x="9430207" y="3095244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9562795" y="3409798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원클릭 가입 신청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9562795" y="3661258"/>
            <a:ext cx="1450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간편결제 (카카오페이 등)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9562795" y="3912718"/>
            <a:ext cx="1402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방지 요약 리마인드</a:t>
            </a:r>
            <a:endParaRPr lang="en-US" sz="1000" dirty="0"/>
          </a:p>
        </p:txBody>
      </p:sp>
      <p:sp>
        <p:nvSpPr>
          <p:cNvPr id="63" name="Shape 52"/>
          <p:cNvSpPr/>
          <p:nvPr/>
        </p:nvSpPr>
        <p:spPr>
          <a:xfrm>
            <a:off x="9430207" y="4431182"/>
            <a:ext cx="2104949" cy="895198"/>
          </a:xfrm>
          <a:prstGeom prst="roundRect">
            <a:avLst>
              <a:gd name="adj" fmla="val 86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3"/>
          <p:cNvSpPr txBox="1"/>
          <p:nvPr/>
        </p:nvSpPr>
        <p:spPr>
          <a:xfrm>
            <a:off x="9553651" y="4545482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FRICTION</a:t>
            </a:r>
            <a:endParaRPr lang="en-US" sz="900" dirty="0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 r:embed="rId9"/>
          <a:srcRect l="-3120" r="-3120"/>
          <a:stretch/>
        </p:blipFill>
        <p:spPr>
          <a:xfrm>
            <a:off x="11334902" y="4573829"/>
            <a:ext cx="75895" cy="114300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9553651" y="4754880"/>
            <a:ext cx="710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1-Click</a:t>
            </a:r>
            <a:endParaRPr lang="en-US" sz="1300" dirty="0"/>
          </a:p>
        </p:txBody>
      </p:sp>
      <p:sp>
        <p:nvSpPr>
          <p:cNvPr id="67" name="Text 55"/>
          <p:cNvSpPr txBox="1"/>
          <p:nvPr/>
        </p:nvSpPr>
        <p:spPr>
          <a:xfrm>
            <a:off x="9553651" y="5041087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단계 최소화</a:t>
            </a:r>
            <a:endParaRPr lang="en-US" sz="900" dirty="0"/>
          </a:p>
        </p:txBody>
      </p:sp>
      <p:sp>
        <p:nvSpPr>
          <p:cNvPr id="68" name="Shape 56"/>
          <p:cNvSpPr/>
          <p:nvPr/>
        </p:nvSpPr>
        <p:spPr>
          <a:xfrm>
            <a:off x="657454" y="219090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9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90956" y="2324405"/>
            <a:ext cx="190195" cy="190195"/>
          </a:xfrm>
          <a:prstGeom prst="rect">
            <a:avLst/>
          </a:prstGeom>
        </p:spPr>
      </p:pic>
      <p:sp>
        <p:nvSpPr>
          <p:cNvPr id="70" name="Shape 57"/>
          <p:cNvSpPr/>
          <p:nvPr/>
        </p:nvSpPr>
        <p:spPr>
          <a:xfrm>
            <a:off x="3581705" y="219090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738982" y="2324405"/>
            <a:ext cx="142646" cy="190195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6505956" y="219090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638544" y="2324405"/>
            <a:ext cx="190195" cy="190195"/>
          </a:xfrm>
          <a:prstGeom prst="rect">
            <a:avLst/>
          </a:prstGeom>
        </p:spPr>
      </p:pic>
      <p:sp>
        <p:nvSpPr>
          <p:cNvPr id="74" name="Shape 59"/>
          <p:cNvSpPr/>
          <p:nvPr/>
        </p:nvSpPr>
        <p:spPr>
          <a:xfrm>
            <a:off x="9430207" y="219090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562795" y="2324405"/>
            <a:ext cx="190195" cy="190195"/>
          </a:xfrm>
          <a:prstGeom prst="rect">
            <a:avLst/>
          </a:prstGeom>
        </p:spPr>
      </p:pic>
      <p:sp>
        <p:nvSpPr>
          <p:cNvPr id="76" name="Shape 6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61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62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3"/>
          <p:cNvSpPr txBox="1"/>
          <p:nvPr/>
        </p:nvSpPr>
        <p:spPr>
          <a:xfrm>
            <a:off x="666598" y="185623"/>
            <a:ext cx="31245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2: 모바일 퍼널 최적화</a:t>
            </a:r>
            <a:endParaRPr lang="en-US" sz="1800" dirty="0"/>
          </a:p>
        </p:txBody>
      </p:sp>
      <p:sp>
        <p:nvSpPr>
          <p:cNvPr id="80" name="Text 64"/>
          <p:cNvSpPr txBox="1"/>
          <p:nvPr/>
        </p:nvSpPr>
        <p:spPr>
          <a:xfrm>
            <a:off x="666598" y="538582"/>
            <a:ext cx="3448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STRATEGY 2: MOBILE FUNNEL OPTIMIZATION</a:t>
            </a:r>
            <a:endParaRPr lang="en-US" sz="900" dirty="0"/>
          </a:p>
        </p:txBody>
      </p:sp>
      <p:sp>
        <p:nvSpPr>
          <p:cNvPr id="81" name="Text 65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11</a:t>
            </a:r>
            <a:endParaRPr lang="en-US" sz="1000" dirty="0"/>
          </a:p>
        </p:txBody>
      </p:sp>
      <p:sp>
        <p:nvSpPr>
          <p:cNvPr id="82" name="Text 66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3" name="Text 67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6105449" cy="5943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914400"/>
            <a:ext cx="9144" cy="59436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1295705"/>
            <a:ext cx="38405" cy="4956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5605" y="1285646"/>
            <a:ext cx="1972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Pain Points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5605" y="1600200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겪는 불편함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1305" y="2095805"/>
            <a:ext cx="5333695" cy="1037844"/>
          </a:xfrm>
          <a:prstGeom prst="roundRect">
            <a:avLst>
              <a:gd name="adj" fmla="val 97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80644" y="22951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685800" y="2409444"/>
            <a:ext cx="171907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14654" y="2295144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입력 피로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14654" y="2553005"/>
            <a:ext cx="1595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"여러 사이트를 돌아다니며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4654" y="2735885"/>
            <a:ext cx="1910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정보를 계속 입력해야 함"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1305" y="3281782"/>
            <a:ext cx="5333695" cy="1037844"/>
          </a:xfrm>
          <a:prstGeom prst="roundRect">
            <a:avLst>
              <a:gd name="adj" fmla="val 97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80644" y="348112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05002" y="3595421"/>
            <a:ext cx="133502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14654" y="3481121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용어 난해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14654" y="3738982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"대인배상, 자손, 자상...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114654" y="3921862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용어가 너무 어렵고 이해 불가"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1305" y="4466844"/>
            <a:ext cx="5333695" cy="1037844"/>
          </a:xfrm>
          <a:prstGeom prst="roundRect">
            <a:avLst>
              <a:gd name="adj" fmla="val 9700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580644" y="46670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944" y="4781398"/>
            <a:ext cx="152705" cy="15270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114654" y="4667098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특약 선택의 어려움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114654" y="4924044"/>
            <a:ext cx="1510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"나에게 꼭 필요한 특약이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14654" y="5107838"/>
            <a:ext cx="1595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무엇인지 판단하기 어려움"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81305" y="6163056"/>
            <a:ext cx="53336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29968" y="6348679"/>
            <a:ext cx="114300" cy="1143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2182673" y="6314846"/>
            <a:ext cx="1972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발생 주요 원인: 복잡성 &amp; 불확실성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100877" y="914400"/>
            <a:ext cx="6096305" cy="5943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482182" y="1295705"/>
            <a:ext cx="38405" cy="4956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6596482" y="1285646"/>
            <a:ext cx="19248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Solutions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6596482" y="1600200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 혁신 솔루션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482182" y="2095805"/>
            <a:ext cx="5333695" cy="857707"/>
          </a:xfrm>
          <a:prstGeom prst="roundRect">
            <a:avLst>
              <a:gd name="adj" fmla="val 142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54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6482182" y="2095805"/>
            <a:ext cx="38405" cy="83119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6681521" y="22951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95821" y="2409444"/>
            <a:ext cx="152705" cy="15270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215530" y="2295144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원클릭 통합 비교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7215530" y="2553005"/>
            <a:ext cx="2843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정보 입력으로10개 보험사 견적 자동 산출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11283696" y="2219249"/>
            <a:ext cx="409651" cy="209398"/>
          </a:xfrm>
          <a:prstGeom prst="roundRect">
            <a:avLst>
              <a:gd name="adj" fmla="val 7939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4"/>
          <p:cNvSpPr txBox="1"/>
          <p:nvPr/>
        </p:nvSpPr>
        <p:spPr>
          <a:xfrm>
            <a:off x="11350447" y="2247595"/>
            <a:ext cx="352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6482182" y="3097987"/>
            <a:ext cx="5333695" cy="857707"/>
          </a:xfrm>
          <a:prstGeom prst="roundRect">
            <a:avLst>
              <a:gd name="adj" fmla="val 142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54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>
            <a:off x="6482182" y="3097987"/>
            <a:ext cx="38405" cy="83119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6681521" y="329824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rcRect l="-299" r="-299"/>
          <a:stretch/>
        </p:blipFill>
        <p:spPr>
          <a:xfrm>
            <a:off x="6843370" y="3412541"/>
            <a:ext cx="57607" cy="15270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215530" y="3298241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용어 가이드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7215530" y="3555187"/>
            <a:ext cx="3300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오버 시 쉬운 설명 툴팁 제공및 사례 기반 예시 노출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11419027" y="3221431"/>
            <a:ext cx="276149" cy="209398"/>
          </a:xfrm>
          <a:prstGeom prst="roundRect">
            <a:avLst>
              <a:gd name="adj" fmla="val 7939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1"/>
          <p:cNvSpPr txBox="1"/>
          <p:nvPr/>
        </p:nvSpPr>
        <p:spPr>
          <a:xfrm>
            <a:off x="11485778" y="325069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6482182" y="4100170"/>
            <a:ext cx="5333695" cy="857707"/>
          </a:xfrm>
          <a:prstGeom prst="roundRect">
            <a:avLst>
              <a:gd name="adj" fmla="val 1421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54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3"/>
          <p:cNvSpPr/>
          <p:nvPr/>
        </p:nvSpPr>
        <p:spPr>
          <a:xfrm>
            <a:off x="6482182" y="4100170"/>
            <a:ext cx="38405" cy="83119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4"/>
          <p:cNvSpPr/>
          <p:nvPr/>
        </p:nvSpPr>
        <p:spPr>
          <a:xfrm>
            <a:off x="6681521" y="430042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776618" y="4414723"/>
            <a:ext cx="190195" cy="15270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7215530" y="4300423"/>
            <a:ext cx="1239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맞춤 보장 추천</a:t>
            </a:r>
            <a:endParaRPr lang="en-US" sz="1200" dirty="0"/>
          </a:p>
        </p:txBody>
      </p:sp>
      <p:sp>
        <p:nvSpPr>
          <p:cNvPr id="55" name="Text 46"/>
          <p:cNvSpPr txBox="1"/>
          <p:nvPr/>
        </p:nvSpPr>
        <p:spPr>
          <a:xfrm>
            <a:off x="7215530" y="4557370"/>
            <a:ext cx="2662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"3가지 질문"만으로최적의 보장 조합 큐레이션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11457432" y="4224528"/>
            <a:ext cx="237744" cy="209398"/>
          </a:xfrm>
          <a:prstGeom prst="roundRect">
            <a:avLst>
              <a:gd name="adj" fmla="val 7939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8"/>
          <p:cNvSpPr txBox="1"/>
          <p:nvPr/>
        </p:nvSpPr>
        <p:spPr>
          <a:xfrm>
            <a:off x="11524183" y="4252874"/>
            <a:ext cx="1810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6482182" y="6077102"/>
            <a:ext cx="5333695" cy="400507"/>
          </a:xfrm>
          <a:prstGeom prst="roundRect">
            <a:avLst>
              <a:gd name="adj" fmla="val 4348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63763" y="6200546"/>
            <a:ext cx="152705" cy="152705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8392363" y="6191402"/>
            <a:ext cx="1828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효과: 비교 소요 시간 70% 단축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5810098" y="3600907"/>
            <a:ext cx="571500" cy="571500"/>
          </a:xfrm>
          <a:prstGeom prst="ellipse">
            <a:avLst/>
          </a:prstGeom>
          <a:solidFill>
            <a:srgbClr val="3B82F6"/>
          </a:solidFill>
          <a:ln w="50800">
            <a:solidFill>
              <a:srgbClr val="FFFFFF"/>
            </a:solidFill>
            <a:prstDash val="solid"/>
          </a:ln>
          <a:effectLst>
            <a:outerShdw blurRad="139700" dist="38100" dir="54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/>
        </p:blipFill>
        <p:spPr>
          <a:xfrm>
            <a:off x="6010351" y="3791102"/>
            <a:ext cx="171907" cy="190195"/>
          </a:xfrm>
          <a:prstGeom prst="rect">
            <a:avLst/>
          </a:prstGeom>
        </p:spPr>
      </p:pic>
      <p:sp>
        <p:nvSpPr>
          <p:cNvPr id="63" name="Shape 5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3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5"/>
          <p:cNvSpPr txBox="1"/>
          <p:nvPr/>
        </p:nvSpPr>
        <p:spPr>
          <a:xfrm>
            <a:off x="666598" y="185623"/>
            <a:ext cx="31245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3: 차별화된 비교 경험</a:t>
            </a:r>
            <a:endParaRPr lang="en-US" sz="1800" dirty="0"/>
          </a:p>
        </p:txBody>
      </p:sp>
      <p:sp>
        <p:nvSpPr>
          <p:cNvPr id="67" name="Text 56"/>
          <p:cNvSpPr txBox="1"/>
          <p:nvPr/>
        </p:nvSpPr>
        <p:spPr>
          <a:xfrm>
            <a:off x="666598" y="538582"/>
            <a:ext cx="4219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STRATEGY 3: DIFFERENTIATED COMPARISON EXPERIENCE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12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457200" y="6486754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70" name="Text 59"/>
          <p:cNvSpPr txBox="1"/>
          <p:nvPr/>
        </p:nvSpPr>
        <p:spPr>
          <a:xfrm>
            <a:off x="10362895" y="6486754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" y="1181405"/>
            <a:ext cx="1047902" cy="247802"/>
          </a:xfrm>
          <a:prstGeom prst="roundRect">
            <a:avLst>
              <a:gd name="adj" fmla="val 56770"/>
            </a:avLst>
          </a:prstGeom>
          <a:solidFill>
            <a:srgbClr val="3B82F6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00100" y="1218895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47496"/>
            <a:ext cx="5486400" cy="2533802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94944" y="2004454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94944" y="168615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956" y="1781251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" y="1733702"/>
            <a:ext cx="1729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광고 (SA) 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944" y="2166302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Cost Keywords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2433307"/>
            <a:ext cx="2186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"다이렉트자동차보험" 등 대표 키워드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" y="2661907"/>
            <a:ext cx="5009998" cy="400507"/>
          </a:xfrm>
          <a:prstGeom prst="roundRect">
            <a:avLst>
              <a:gd name="adj" fmla="val 2174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/>
        </p:blipFill>
        <p:spPr>
          <a:xfrm>
            <a:off x="819302" y="2809126"/>
            <a:ext cx="105156" cy="1143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00354" y="2776207"/>
            <a:ext cx="2171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신뢰도와 투명한 비교 기능 동시 강조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94944" y="3214205"/>
            <a:ext cx="1377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Long-tail Keywords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2119579" y="3261726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구체적 니즈 공략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94944" y="3488975"/>
            <a:ext cx="5009998" cy="400507"/>
          </a:xfrm>
          <a:prstGeom prst="roundRect">
            <a:avLst>
              <a:gd name="adj" fmla="val 2174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2" y="3637108"/>
            <a:ext cx="114300" cy="1143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09498" y="3603275"/>
            <a:ext cx="2876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"중고차 보험", "주말 운전자" 등 세분화된 랜딩페이지 연결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4205357"/>
            <a:ext cx="5486400" cy="2469866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94944" y="4901216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94944" y="4444016"/>
            <a:ext cx="342900" cy="342900"/>
          </a:xfrm>
          <a:prstGeom prst="roundRect">
            <a:avLst>
              <a:gd name="adj" fmla="val 5925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71754" y="4539113"/>
            <a:ext cx="19019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52144" y="4491565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 타겟팅 전략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" y="5063065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시즌 집중 (갱신 주기)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94944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800100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164946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1270102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2월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632204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1737360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3월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2100377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2204618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4월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2570378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2674620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5월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037637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 txBox="1"/>
          <p:nvPr/>
        </p:nvSpPr>
        <p:spPr>
          <a:xfrm>
            <a:off x="3141878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6월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504895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3610051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7월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3974897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4079138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8월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4442155" y="5329155"/>
            <a:ext cx="400507" cy="286207"/>
          </a:xfrm>
          <a:prstGeom prst="roundRect">
            <a:avLst>
              <a:gd name="adj" fmla="val 6389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 txBox="1"/>
          <p:nvPr/>
        </p:nvSpPr>
        <p:spPr>
          <a:xfrm>
            <a:off x="4547311" y="5377618"/>
            <a:ext cx="2825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9월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4909414" y="5329155"/>
            <a:ext cx="466344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0"/>
          <p:cNvSpPr txBox="1"/>
          <p:nvPr/>
        </p:nvSpPr>
        <p:spPr>
          <a:xfrm>
            <a:off x="5014570" y="5377618"/>
            <a:ext cx="3493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694944" y="5759837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Segments</a:t>
            </a:r>
            <a:endParaRPr lang="en-US" sz="10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694944" y="6083535"/>
            <a:ext cx="105156" cy="105156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14400" y="6026842"/>
            <a:ext cx="2586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워킹맘 &amp; 직장인: 시간 절약, "간편함"에 민감</a:t>
            </a:r>
            <a:endParaRPr lang="en-US" sz="10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694944" y="6464840"/>
            <a:ext cx="105156" cy="1051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914400" y="6408147"/>
            <a:ext cx="2500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2030 모바일족: 비대면 선호, 플랫폼 친화적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6476695" y="1181405"/>
            <a:ext cx="1047902" cy="247802"/>
          </a:xfrm>
          <a:prstGeom prst="roundRect">
            <a:avLst>
              <a:gd name="adj" fmla="val 56770"/>
            </a:avLst>
          </a:prstGeom>
          <a:solidFill>
            <a:srgbClr val="EC4899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5"/>
          <p:cNvSpPr txBox="1"/>
          <p:nvPr/>
        </p:nvSpPr>
        <p:spPr>
          <a:xfrm>
            <a:off x="6590995" y="1218895"/>
            <a:ext cx="9052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05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6248095" y="1447495"/>
            <a:ext cx="5486400" cy="2511857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7"/>
          <p:cNvSpPr/>
          <p:nvPr/>
        </p:nvSpPr>
        <p:spPr>
          <a:xfrm>
            <a:off x="6486754" y="2004454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8"/>
          <p:cNvSpPr/>
          <p:nvPr/>
        </p:nvSpPr>
        <p:spPr>
          <a:xfrm>
            <a:off x="6486754" y="168615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81851" y="1781251"/>
            <a:ext cx="152705" cy="152705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6943954" y="1733702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설계</a:t>
            </a:r>
            <a:endParaRPr lang="en-US" sz="1300" dirty="0"/>
          </a:p>
        </p:txBody>
      </p:sp>
      <p:sp>
        <p:nvSpPr>
          <p:cNvPr id="59" name="Shape 50"/>
          <p:cNvSpPr/>
          <p:nvPr/>
        </p:nvSpPr>
        <p:spPr>
          <a:xfrm>
            <a:off x="6486754" y="2166302"/>
            <a:ext cx="2428646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10198" y="2289746"/>
            <a:ext cx="190195" cy="190195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6610198" y="2580526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캐시백 혜택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6610198" y="2799982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즉시성 보상으로 가입 유도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9068105" y="2166302"/>
            <a:ext cx="2428646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191549" y="2289746"/>
            <a:ext cx="237744" cy="190195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9191549" y="2580526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가입 할인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9191549" y="2799982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고객 진입장벽 제거</a:t>
            </a:r>
            <a:endParaRPr lang="en-US" sz="900" dirty="0"/>
          </a:p>
        </p:txBody>
      </p:sp>
      <p:sp>
        <p:nvSpPr>
          <p:cNvPr id="67" name="Shape 56"/>
          <p:cNvSpPr/>
          <p:nvPr/>
        </p:nvSpPr>
        <p:spPr>
          <a:xfrm>
            <a:off x="6486754" y="3237979"/>
            <a:ext cx="5009998" cy="590702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10198" y="3432746"/>
            <a:ext cx="190195" cy="190195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6953098" y="3361423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고객 특별 우대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6953098" y="3542474"/>
            <a:ext cx="1591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재구매율(Retention) 방어 전략</a:t>
            </a:r>
            <a:endParaRPr lang="en-US" sz="900" dirty="0"/>
          </a:p>
        </p:txBody>
      </p:sp>
      <p:sp>
        <p:nvSpPr>
          <p:cNvPr id="71" name="Shape 59"/>
          <p:cNvSpPr/>
          <p:nvPr/>
        </p:nvSpPr>
        <p:spPr>
          <a:xfrm>
            <a:off x="6248095" y="4059053"/>
            <a:ext cx="5486400" cy="2598693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0"/>
          <p:cNvSpPr/>
          <p:nvPr/>
        </p:nvSpPr>
        <p:spPr>
          <a:xfrm>
            <a:off x="6486754" y="4753997"/>
            <a:ext cx="5009998" cy="914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61"/>
          <p:cNvSpPr/>
          <p:nvPr/>
        </p:nvSpPr>
        <p:spPr>
          <a:xfrm>
            <a:off x="6486754" y="4296797"/>
            <a:ext cx="342900" cy="342900"/>
          </a:xfrm>
          <a:prstGeom prst="roundRect">
            <a:avLst>
              <a:gd name="adj" fmla="val 5925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4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81851" y="4392809"/>
            <a:ext cx="152705" cy="152705"/>
          </a:xfrm>
          <a:prstGeom prst="rect">
            <a:avLst/>
          </a:prstGeom>
        </p:spPr>
      </p:pic>
      <p:sp>
        <p:nvSpPr>
          <p:cNvPr id="75" name="Text 62"/>
          <p:cNvSpPr txBox="1"/>
          <p:nvPr/>
        </p:nvSpPr>
        <p:spPr>
          <a:xfrm>
            <a:off x="6943954" y="4344346"/>
            <a:ext cx="16056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 커뮤니케이션</a:t>
            </a:r>
            <a:endParaRPr lang="en-US" sz="1300" dirty="0"/>
          </a:p>
        </p:txBody>
      </p:sp>
      <p:sp>
        <p:nvSpPr>
          <p:cNvPr id="76" name="Shape 63"/>
          <p:cNvSpPr/>
          <p:nvPr/>
        </p:nvSpPr>
        <p:spPr>
          <a:xfrm>
            <a:off x="6486754" y="4923161"/>
            <a:ext cx="5009998" cy="629107"/>
          </a:xfrm>
          <a:prstGeom prst="roundRect">
            <a:avLst>
              <a:gd name="adj" fmla="val 17618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64"/>
          <p:cNvSpPr/>
          <p:nvPr/>
        </p:nvSpPr>
        <p:spPr>
          <a:xfrm>
            <a:off x="6486754" y="4923161"/>
            <a:ext cx="28346" cy="629107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5"/>
          <p:cNvSpPr txBox="1"/>
          <p:nvPr/>
        </p:nvSpPr>
        <p:spPr>
          <a:xfrm>
            <a:off x="6629400" y="5027403"/>
            <a:ext cx="12198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AVOID (포화된 메시지)</a:t>
            </a:r>
            <a:endParaRPr lang="en-US" sz="900" dirty="0"/>
          </a:p>
        </p:txBody>
      </p:sp>
      <p:pic>
        <p:nvPicPr>
          <p:cNvPr id="79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248949" y="5046605"/>
            <a:ext cx="133502" cy="133502"/>
          </a:xfrm>
          <a:prstGeom prst="rect">
            <a:avLst/>
          </a:prstGeom>
        </p:spPr>
      </p:pic>
      <p:sp>
        <p:nvSpPr>
          <p:cNvPr id="80" name="Text 66"/>
          <p:cNvSpPr txBox="1"/>
          <p:nvPr/>
        </p:nvSpPr>
        <p:spPr>
          <a:xfrm>
            <a:off x="6629400" y="5227657"/>
            <a:ext cx="2189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"무조건 저렴합니다", "최저가 보장"</a:t>
            </a:r>
            <a:endParaRPr lang="en-US" sz="1000" dirty="0"/>
          </a:p>
        </p:txBody>
      </p:sp>
      <p:pic>
        <p:nvPicPr>
          <p:cNvPr id="81" name="Image 12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8948318" y="5661997"/>
            <a:ext cx="85954" cy="114300"/>
          </a:xfrm>
          <a:prstGeom prst="rect">
            <a:avLst/>
          </a:prstGeom>
        </p:spPr>
      </p:pic>
      <p:sp>
        <p:nvSpPr>
          <p:cNvPr id="82" name="Shape 67"/>
          <p:cNvSpPr/>
          <p:nvPr/>
        </p:nvSpPr>
        <p:spPr>
          <a:xfrm>
            <a:off x="6486754" y="5814701"/>
            <a:ext cx="5009998" cy="819302"/>
          </a:xfrm>
          <a:prstGeom prst="roundRect">
            <a:avLst>
              <a:gd name="adj" fmla="val 10382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68"/>
          <p:cNvSpPr/>
          <p:nvPr/>
        </p:nvSpPr>
        <p:spPr>
          <a:xfrm>
            <a:off x="6486754" y="5814701"/>
            <a:ext cx="28346" cy="81930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69"/>
          <p:cNvSpPr txBox="1"/>
          <p:nvPr/>
        </p:nvSpPr>
        <p:spPr>
          <a:xfrm>
            <a:off x="6629400" y="5918943"/>
            <a:ext cx="1276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ADOPT (구체적/합리적)</a:t>
            </a:r>
            <a:endParaRPr lang="en-US" sz="900" dirty="0"/>
          </a:p>
        </p:txBody>
      </p:sp>
      <p:pic>
        <p:nvPicPr>
          <p:cNvPr id="85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1248949" y="5938145"/>
            <a:ext cx="133502" cy="133502"/>
          </a:xfrm>
          <a:prstGeom prst="rect">
            <a:avLst/>
          </a:prstGeom>
        </p:spPr>
      </p:pic>
      <p:sp>
        <p:nvSpPr>
          <p:cNvPr id="86" name="Text 70"/>
          <p:cNvSpPr txBox="1"/>
          <p:nvPr/>
        </p:nvSpPr>
        <p:spPr>
          <a:xfrm>
            <a:off x="6629400" y="6119197"/>
            <a:ext cx="15508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"평균 24만원 절약 효과"</a:t>
            </a:r>
            <a:endParaRPr lang="en-US" sz="1000" dirty="0"/>
          </a:p>
        </p:txBody>
      </p:sp>
      <p:sp>
        <p:nvSpPr>
          <p:cNvPr id="87" name="Text 71"/>
          <p:cNvSpPr txBox="1"/>
          <p:nvPr/>
        </p:nvSpPr>
        <p:spPr>
          <a:xfrm>
            <a:off x="6629400" y="6353283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"당신에게 딱 맞는 보장 + 최저가 설계"</a:t>
            </a:r>
            <a:endParaRPr lang="en-US" sz="900" dirty="0"/>
          </a:p>
        </p:txBody>
      </p:sp>
      <p:sp>
        <p:nvSpPr>
          <p:cNvPr id="88" name="Shape 7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73"/>
          <p:cNvSpPr/>
          <p:nvPr/>
        </p:nvSpPr>
        <p:spPr>
          <a:xfrm>
            <a:off x="0" y="905256"/>
            <a:ext cx="1219169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74"/>
          <p:cNvSpPr/>
          <p:nvPr/>
        </p:nvSpPr>
        <p:spPr>
          <a:xfrm>
            <a:off x="457200" y="299923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75"/>
          <p:cNvSpPr txBox="1"/>
          <p:nvPr/>
        </p:nvSpPr>
        <p:spPr>
          <a:xfrm>
            <a:off x="666598" y="185623"/>
            <a:ext cx="38011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전략 4-5: 광고 효율화 및 프로모션</a:t>
            </a:r>
            <a:endParaRPr lang="en-US" sz="1800" dirty="0"/>
          </a:p>
        </p:txBody>
      </p:sp>
      <p:sp>
        <p:nvSpPr>
          <p:cNvPr id="92" name="Text 76"/>
          <p:cNvSpPr txBox="1"/>
          <p:nvPr/>
        </p:nvSpPr>
        <p:spPr>
          <a:xfrm>
            <a:off x="666598" y="538582"/>
            <a:ext cx="3657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STRATEGY 4-5: AD OPTIMIZATION &amp; PROMOTION</a:t>
            </a:r>
            <a:endParaRPr lang="en-US" sz="900" dirty="0"/>
          </a:p>
        </p:txBody>
      </p:sp>
      <p:sp>
        <p:nvSpPr>
          <p:cNvPr id="93" name="Text 77"/>
          <p:cNvSpPr txBox="1"/>
          <p:nvPr/>
        </p:nvSpPr>
        <p:spPr>
          <a:xfrm>
            <a:off x="11238890" y="357530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13</a:t>
            </a:r>
            <a:endParaRPr lang="en-US" sz="1000" dirty="0"/>
          </a:p>
        </p:txBody>
      </p:sp>
      <p:sp>
        <p:nvSpPr>
          <p:cNvPr id="94" name="Text 78"/>
          <p:cNvSpPr txBox="1"/>
          <p:nvPr/>
        </p:nvSpPr>
        <p:spPr>
          <a:xfrm>
            <a:off x="457200" y="5977465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95" name="Text 79"/>
          <p:cNvSpPr txBox="1"/>
          <p:nvPr/>
        </p:nvSpPr>
        <p:spPr>
          <a:xfrm>
            <a:off x="10362895" y="5977465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295705"/>
            <a:ext cx="17053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KEY FINDINGS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59123"/>
            <a:ext cx="5410505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7454" y="1859376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956" y="1992879"/>
            <a:ext cx="190195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6444" y="1868520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경험의 단순화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266444" y="2173930"/>
            <a:ext cx="448238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소비자의 최대 장벽은 '복잡함'입니다. 프로세스 간소화가 전환율 상승의 가장 확실한 지렛대입니다.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950255"/>
            <a:ext cx="5410505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4730" y="3283097"/>
            <a:ext cx="142646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66444" y="3159653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퍼널 최적화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66444" y="3464148"/>
            <a:ext cx="445312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모바일이 주 전장터입니다. 검색부터 가입까지 끊김 없는 UX가 매출을 결정짓습니다.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240474"/>
            <a:ext cx="5410505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0956" y="4574230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6444" y="4449871"/>
            <a:ext cx="1919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신뢰 × 투명 비교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266444" y="4755281"/>
            <a:ext cx="440557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하나만으로는 부족합니다. 브랜드 파워 위에 투명한 비교 경험을 얹어야 승리합니다.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5531607"/>
            <a:ext cx="5410505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7182" y="5864448"/>
            <a:ext cx="237744" cy="19019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66444" y="5741004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합리적 가치 제안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266444" y="6045499"/>
            <a:ext cx="43964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무조건 싼 가격보다는 가격+보장의 균형을 맞춘 '합리적 선택'을 제안해야 합니다.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324905" y="1295705"/>
            <a:ext cx="23436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90-DAY ACTION PLAN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696151" y="1850232"/>
            <a:ext cx="19202" cy="361919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6324905" y="5659623"/>
            <a:ext cx="5410505" cy="1162202"/>
          </a:xfrm>
          <a:prstGeom prst="roundRect">
            <a:avLst>
              <a:gd name="adj" fmla="val 773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63500" dist="38100" dir="54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562649" y="601258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2563E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96151" y="6145169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72554" y="5907425"/>
            <a:ext cx="1824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7172554" y="6202776"/>
            <a:ext cx="439643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3개월 콘텐츠 73% 증가, 긍정 감성 67%. 지금이 공격적인 마케팅 투자의 최적 타이밍입니다.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515100" y="1659123"/>
            <a:ext cx="5219395" cy="743407"/>
          </a:xfrm>
          <a:prstGeom prst="roundRect">
            <a:avLst>
              <a:gd name="adj" fmla="val 18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6676949" y="1840174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6716268" y="1938929"/>
            <a:ext cx="3968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NOW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0941710" y="1826458"/>
            <a:ext cx="638251" cy="219456"/>
          </a:xfrm>
          <a:prstGeom prst="roundRect">
            <a:avLst>
              <a:gd name="adj" fmla="val 41666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 txBox="1"/>
          <p:nvPr/>
        </p:nvSpPr>
        <p:spPr>
          <a:xfrm>
            <a:off x="7210044" y="1820971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퍼널 지표 개선 착수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1036808" y="1855719"/>
            <a:ext cx="5285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URGENT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7210044" y="2078832"/>
            <a:ext cx="2648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랜딩~견적 단계 속도 측정 및 이탈 마찰 요소 즉시 제거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515100" y="2681422"/>
            <a:ext cx="5219395" cy="743407"/>
          </a:xfrm>
          <a:prstGeom prst="roundRect">
            <a:avLst>
              <a:gd name="adj" fmla="val 18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6676949" y="2862473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6752844" y="2961228"/>
            <a:ext cx="3300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30d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7210044" y="2843271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MVP 론치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0994746" y="2878018"/>
            <a:ext cx="5660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</a:t>
            </a:r>
            <a:endParaRPr lang="en-US" sz="800" dirty="0"/>
          </a:p>
        </p:txBody>
      </p:sp>
      <p:sp>
        <p:nvSpPr>
          <p:cNvPr id="41" name="Text 34"/>
          <p:cNvSpPr txBox="1"/>
          <p:nvPr/>
        </p:nvSpPr>
        <p:spPr>
          <a:xfrm>
            <a:off x="7210044" y="3101131"/>
            <a:ext cx="2514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추천 로직, 원클릭 비교 기능 베타 오픈 및 테스트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6515100" y="3703721"/>
            <a:ext cx="5219395" cy="743407"/>
          </a:xfrm>
          <a:prstGeom prst="roundRect">
            <a:avLst>
              <a:gd name="adj" fmla="val 18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>
            <a:off x="6676949" y="3884772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 txBox="1"/>
          <p:nvPr/>
        </p:nvSpPr>
        <p:spPr>
          <a:xfrm>
            <a:off x="6752844" y="3983527"/>
            <a:ext cx="3300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60d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7210044" y="386557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SEO 더블트랙 운영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10849356" y="3900317"/>
            <a:ext cx="7086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MARKETING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7210044" y="4123431"/>
            <a:ext cx="2953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키워드(브랜드) + 틈새 키워드(상황별) 콘텐츠 대량 배포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6515100" y="4726020"/>
            <a:ext cx="5219395" cy="743407"/>
          </a:xfrm>
          <a:prstGeom prst="roundRect">
            <a:avLst>
              <a:gd name="adj" fmla="val 18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2"/>
          <p:cNvSpPr/>
          <p:nvPr/>
        </p:nvSpPr>
        <p:spPr>
          <a:xfrm>
            <a:off x="6676949" y="4907071"/>
            <a:ext cx="381305" cy="3813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3"/>
          <p:cNvSpPr txBox="1"/>
          <p:nvPr/>
        </p:nvSpPr>
        <p:spPr>
          <a:xfrm>
            <a:off x="6752844" y="5005827"/>
            <a:ext cx="3300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90d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10860329" y="4893355"/>
            <a:ext cx="714146" cy="219456"/>
          </a:xfrm>
          <a:prstGeom prst="roundRect">
            <a:avLst>
              <a:gd name="adj" fmla="val 41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 txBox="1"/>
          <p:nvPr/>
        </p:nvSpPr>
        <p:spPr>
          <a:xfrm>
            <a:off x="7210044" y="4887869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시즌 캠페인 확대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10955426" y="4922616"/>
            <a:ext cx="604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SCALE-UP</a:t>
            </a:r>
            <a:endParaRPr lang="en-US" sz="800" dirty="0"/>
          </a:p>
        </p:txBody>
      </p:sp>
      <p:sp>
        <p:nvSpPr>
          <p:cNvPr id="54" name="Text 47"/>
          <p:cNvSpPr txBox="1"/>
          <p:nvPr/>
        </p:nvSpPr>
        <p:spPr>
          <a:xfrm>
            <a:off x="7210044" y="5145730"/>
            <a:ext cx="3076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메시지("평균 24만원 절약")로 갱신 시즌 집중 공략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9"/>
          <p:cNvSpPr/>
          <p:nvPr/>
        </p:nvSpPr>
        <p:spPr>
          <a:xfrm>
            <a:off x="0" y="895198"/>
            <a:ext cx="12191695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0"/>
          <p:cNvSpPr/>
          <p:nvPr/>
        </p:nvSpPr>
        <p:spPr>
          <a:xfrm>
            <a:off x="457200" y="295351"/>
            <a:ext cx="57607" cy="304495"/>
          </a:xfrm>
          <a:prstGeom prst="roundRect">
            <a:avLst>
              <a:gd name="adj" fmla="val 158730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1"/>
          <p:cNvSpPr txBox="1"/>
          <p:nvPr/>
        </p:nvSpPr>
        <p:spPr>
          <a:xfrm>
            <a:off x="666598" y="181051"/>
            <a:ext cx="21909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 및 권고사항</a:t>
            </a:r>
            <a:endParaRPr lang="en-US" sz="1800" dirty="0"/>
          </a:p>
        </p:txBody>
      </p:sp>
      <p:sp>
        <p:nvSpPr>
          <p:cNvPr id="59" name="Text 52"/>
          <p:cNvSpPr txBox="1"/>
          <p:nvPr/>
        </p:nvSpPr>
        <p:spPr>
          <a:xfrm>
            <a:off x="666598" y="533095"/>
            <a:ext cx="2371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CONCLUSION &amp; RECOMMENDATIONS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11238890" y="35204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14</a:t>
            </a:r>
            <a:endParaRPr lang="en-US" sz="1000" dirty="0"/>
          </a:p>
        </p:txBody>
      </p:sp>
      <p:sp>
        <p:nvSpPr>
          <p:cNvPr id="61" name="Text 54"/>
          <p:cNvSpPr txBox="1"/>
          <p:nvPr/>
        </p:nvSpPr>
        <p:spPr>
          <a:xfrm>
            <a:off x="457200" y="6336279"/>
            <a:ext cx="9144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10362895" y="6336279"/>
            <a:ext cx="14676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4762195" cy="4762195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5715000" cy="5715000"/>
          </a:xfrm>
          <a:prstGeom prst="ellipse">
            <a:avLst/>
          </a:prstGeom>
          <a:solidFill>
            <a:srgbClr val="10B981">
              <a:alpha val="6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715000" y="757123"/>
            <a:ext cx="761695" cy="761695"/>
          </a:xfrm>
          <a:prstGeom prst="roundRect">
            <a:avLst>
              <a:gd name="adj" fmla="val 2401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292100" dist="127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401007" y="1614830"/>
            <a:ext cx="39630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317797" y="2738628"/>
            <a:ext cx="37344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다이렉트자동차보험 종합 분석 리포트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09598" y="3690518"/>
            <a:ext cx="4134002" cy="24094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200046" y="4368089"/>
            <a:ext cx="335310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00046" y="4081882"/>
            <a:ext cx="1772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CONTACT INFORMATION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00046" y="460491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57323" y="4738421"/>
            <a:ext cx="142646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809951" y="4614977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809951" y="4824374"/>
            <a:ext cx="2315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전략실 / 데이터 인사이트팀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00046" y="52532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33549" y="5386730"/>
            <a:ext cx="190195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809951" y="5262372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2809951" y="5471770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insight@genspark-ai.com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48095" y="3690518"/>
            <a:ext cx="4134002" cy="24094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638544" y="4368089"/>
            <a:ext cx="3353105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638544" y="4081882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RECOMMENDED NEXT STEPS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72046" y="4738421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248449" y="4614977"/>
            <a:ext cx="1038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Immediate Action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7248449" y="4824374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실행 로드맵 수립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48272" y="5386730"/>
            <a:ext cx="237744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248449" y="5262372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Proposal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248449" y="5471770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설계 워크숍 제안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409944"/>
            <a:ext cx="1505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 REPORT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9877349" y="6409944"/>
            <a:ext cx="19531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GENSPARK AI RESEARCH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2044</Words>
  <Application>Microsoft Office PowerPoint</Application>
  <PresentationFormat>와이드스크린</PresentationFormat>
  <Paragraphs>474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ui-monospace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임 성기</cp:lastModifiedBy>
  <cp:revision>2</cp:revision>
  <dcterms:created xsi:type="dcterms:W3CDTF">2025-12-27T07:39:14Z</dcterms:created>
  <dcterms:modified xsi:type="dcterms:W3CDTF">2025-12-27T13:33:49Z</dcterms:modified>
</cp:coreProperties>
</file>